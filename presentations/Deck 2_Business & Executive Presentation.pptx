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age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6"/>
  </p:notesMasterIdLst>
  <p:sldIdLst>
    <p:sldId id="335" r:id="rId5"/>
    <p:sldId id="355" r:id="rId6"/>
    <p:sldId id="351" r:id="rId7"/>
    <p:sldId id="343" r:id="rId8"/>
    <p:sldId id="346" r:id="rId9"/>
    <p:sldId id="347" r:id="rId10"/>
    <p:sldId id="321" r:id="rId11"/>
    <p:sldId id="342" r:id="rId12"/>
    <p:sldId id="356" r:id="rId13"/>
    <p:sldId id="348" r:id="rId14"/>
    <p:sldId id="35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226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>
        <p:guide orient="horz" pos="3672"/>
        <p:guide pos="3840"/>
      </p:guideLst>
    </p:cSldViewPr>
  </p:slideViewPr>
  <p:outlineViewPr>
    <p:cViewPr>
      <p:scale>
        <a:sx n="33" d="100"/>
        <a:sy n="33" d="100"/>
      </p:scale>
      <p:origin x="0" y="-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C089CC-3BEF-4C00-993E-0B596EDC71AE}" type="doc">
      <dgm:prSet loTypeId="urn:microsoft.com/office/officeart/2005/8/layout/hList1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PH"/>
        </a:p>
      </dgm:t>
    </dgm:pt>
    <dgm:pt modelId="{D5212A1C-D893-4A0D-A9A5-40890A1D0500}">
      <dgm:prSet phldrT="[Text]" phldr="0"/>
      <dgm:spPr/>
      <dgm:t>
        <a:bodyPr/>
        <a:lstStyle/>
        <a:p>
          <a:r>
            <a:rPr lang="en-US" b="1" dirty="0"/>
            <a:t>The Reality of Revamps</a:t>
          </a:r>
          <a:endParaRPr lang="en-PH" b="1" dirty="0"/>
        </a:p>
      </dgm:t>
    </dgm:pt>
    <dgm:pt modelId="{A0C4B5A6-EE2B-41BE-B6FF-09CC5A26A7D6}" type="parTrans" cxnId="{A3994099-921A-49A0-B7F3-F86FD5D6549B}">
      <dgm:prSet/>
      <dgm:spPr/>
      <dgm:t>
        <a:bodyPr/>
        <a:lstStyle/>
        <a:p>
          <a:endParaRPr lang="en-PH"/>
        </a:p>
      </dgm:t>
    </dgm:pt>
    <dgm:pt modelId="{E0D9ECE6-BEC7-4641-ACC0-77AC187B83ED}" type="sibTrans" cxnId="{A3994099-921A-49A0-B7F3-F86FD5D6549B}">
      <dgm:prSet/>
      <dgm:spPr/>
      <dgm:t>
        <a:bodyPr/>
        <a:lstStyle/>
        <a:p>
          <a:endParaRPr lang="en-PH"/>
        </a:p>
      </dgm:t>
    </dgm:pt>
    <dgm:pt modelId="{0EA8339B-9164-4A1D-9933-D5B6AE0F5137}">
      <dgm:prSet phldrT="[Text]"/>
      <dgm:spPr/>
      <dgm:t>
        <a:bodyPr/>
        <a:lstStyle/>
        <a:p>
          <a:pPr>
            <a:buNone/>
          </a:pPr>
          <a:r>
            <a:rPr lang="en-PH" b="1" dirty="0"/>
            <a:t>The Constraint Triangle</a:t>
          </a:r>
        </a:p>
      </dgm:t>
    </dgm:pt>
    <dgm:pt modelId="{31225078-ACA6-4C9F-9611-946188D3CA6A}" type="parTrans" cxnId="{00901AB7-824F-4AF5-AF3B-848DD9F87F89}">
      <dgm:prSet/>
      <dgm:spPr/>
      <dgm:t>
        <a:bodyPr/>
        <a:lstStyle/>
        <a:p>
          <a:endParaRPr lang="en-PH"/>
        </a:p>
      </dgm:t>
    </dgm:pt>
    <dgm:pt modelId="{595E2E14-26BA-4CFF-9575-AB87EF9453E5}" type="sibTrans" cxnId="{00901AB7-824F-4AF5-AF3B-848DD9F87F89}">
      <dgm:prSet/>
      <dgm:spPr/>
      <dgm:t>
        <a:bodyPr/>
        <a:lstStyle/>
        <a:p>
          <a:endParaRPr lang="en-PH"/>
        </a:p>
      </dgm:t>
    </dgm:pt>
    <dgm:pt modelId="{1F455567-F63E-415E-9C50-E2929E63BAE7}">
      <dgm:prSet phldrT="[Text]"/>
      <dgm:spPr/>
      <dgm:t>
        <a:bodyPr/>
        <a:lstStyle/>
        <a:p>
          <a:pPr>
            <a:buNone/>
          </a:pPr>
          <a:r>
            <a:rPr lang="en-PH" b="1" dirty="0"/>
            <a:t>The Business Impact</a:t>
          </a:r>
        </a:p>
      </dgm:t>
    </dgm:pt>
    <dgm:pt modelId="{03C5BDF1-3F46-43D5-A6F7-0E7FDFAF1DDA}" type="parTrans" cxnId="{31772E2E-D7CF-41DA-8E22-1E970311CE8C}">
      <dgm:prSet/>
      <dgm:spPr/>
      <dgm:t>
        <a:bodyPr/>
        <a:lstStyle/>
        <a:p>
          <a:endParaRPr lang="en-PH"/>
        </a:p>
      </dgm:t>
    </dgm:pt>
    <dgm:pt modelId="{70983492-2A69-485A-9A40-80DA0A4887A4}" type="sibTrans" cxnId="{31772E2E-D7CF-41DA-8E22-1E970311CE8C}">
      <dgm:prSet/>
      <dgm:spPr/>
      <dgm:t>
        <a:bodyPr/>
        <a:lstStyle/>
        <a:p>
          <a:endParaRPr lang="en-PH"/>
        </a:p>
      </dgm:t>
    </dgm:pt>
    <dgm:pt modelId="{34780645-6880-4383-BCBB-A9B69584D9A3}">
      <dgm:prSet phldrT="[Text]" phldr="0"/>
      <dgm:spPr/>
      <dgm:t>
        <a:bodyPr/>
        <a:lstStyle/>
        <a:p>
          <a:pPr algn="l">
            <a:buNone/>
          </a:pPr>
          <a:r>
            <a:rPr lang="en-PH" dirty="0"/>
            <a:t>Modifying active, aging plants presents massive logistical hurdles compared to greenfield projects.</a:t>
          </a:r>
        </a:p>
      </dgm:t>
    </dgm:pt>
    <dgm:pt modelId="{B10CCB71-EEAC-4400-9CF6-6C95512D4428}" type="parTrans" cxnId="{B9B5F8CA-84DD-4092-898B-382CD9D5372B}">
      <dgm:prSet/>
      <dgm:spPr/>
      <dgm:t>
        <a:bodyPr/>
        <a:lstStyle/>
        <a:p>
          <a:endParaRPr lang="en-PH"/>
        </a:p>
      </dgm:t>
    </dgm:pt>
    <dgm:pt modelId="{0F80390F-8DC3-4EE1-916C-9695FC940B91}" type="sibTrans" cxnId="{B9B5F8CA-84DD-4092-898B-382CD9D5372B}">
      <dgm:prSet/>
      <dgm:spPr/>
      <dgm:t>
        <a:bodyPr/>
        <a:lstStyle/>
        <a:p>
          <a:endParaRPr lang="en-PH"/>
        </a:p>
      </dgm:t>
    </dgm:pt>
    <dgm:pt modelId="{C5CBBE58-0539-4120-AA26-2DB33A40E16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dirty="0"/>
            <a:t>Incomplete legacy blueprints</a:t>
          </a:r>
        </a:p>
      </dgm:t>
    </dgm:pt>
    <dgm:pt modelId="{BFF43ADD-C0CC-44CB-82E3-73BA3E4F8351}" type="parTrans" cxnId="{54EF621C-14C5-422D-926B-83ECC5C195FC}">
      <dgm:prSet/>
      <dgm:spPr/>
      <dgm:t>
        <a:bodyPr/>
        <a:lstStyle/>
        <a:p>
          <a:endParaRPr lang="en-PH"/>
        </a:p>
      </dgm:t>
    </dgm:pt>
    <dgm:pt modelId="{AF2CEBE2-35B3-48FD-9B75-DCB1D7DC249B}" type="sibTrans" cxnId="{54EF621C-14C5-422D-926B-83ECC5C195FC}">
      <dgm:prSet/>
      <dgm:spPr/>
      <dgm:t>
        <a:bodyPr/>
        <a:lstStyle/>
        <a:p>
          <a:endParaRPr lang="en-PH"/>
        </a:p>
      </dgm:t>
    </dgm:pt>
    <dgm:pt modelId="{48BF4274-688E-47AB-B18F-E64D75D171F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/>
            <a:t>Tight physical and spatial constraints</a:t>
          </a:r>
        </a:p>
      </dgm:t>
    </dgm:pt>
    <dgm:pt modelId="{F109354F-D575-4FC9-8DCA-0235CB4D43BA}" type="parTrans" cxnId="{E31DE90B-EFBE-447C-AC59-65401B7BC655}">
      <dgm:prSet/>
      <dgm:spPr/>
      <dgm:t>
        <a:bodyPr/>
        <a:lstStyle/>
        <a:p>
          <a:endParaRPr lang="en-PH"/>
        </a:p>
      </dgm:t>
    </dgm:pt>
    <dgm:pt modelId="{99843AFB-4701-4D84-9D4F-A6902DA686D8}" type="sibTrans" cxnId="{E31DE90B-EFBE-447C-AC59-65401B7BC655}">
      <dgm:prSet/>
      <dgm:spPr/>
      <dgm:t>
        <a:bodyPr/>
        <a:lstStyle/>
        <a:p>
          <a:endParaRPr lang="en-PH"/>
        </a:p>
      </dgm:t>
    </dgm:pt>
    <dgm:pt modelId="{2FAEB42B-CDA2-4C3B-AA93-E696F974A8A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/>
            <a:t>High tie-in density to operating headers</a:t>
          </a:r>
        </a:p>
      </dgm:t>
    </dgm:pt>
    <dgm:pt modelId="{BFC95921-CE06-449A-8FAE-55516BF722B7}" type="parTrans" cxnId="{7901F503-9B6D-4E41-8580-12FB48C44D71}">
      <dgm:prSet/>
      <dgm:spPr/>
      <dgm:t>
        <a:bodyPr/>
        <a:lstStyle/>
        <a:p>
          <a:endParaRPr lang="en-PH"/>
        </a:p>
      </dgm:t>
    </dgm:pt>
    <dgm:pt modelId="{A10B972B-5FA0-49AE-A783-8C009C8DE03A}" type="sibTrans" cxnId="{7901F503-9B6D-4E41-8580-12FB48C44D71}">
      <dgm:prSet/>
      <dgm:spPr/>
      <dgm:t>
        <a:bodyPr/>
        <a:lstStyle/>
        <a:p>
          <a:endParaRPr lang="en-PH"/>
        </a:p>
      </dgm:t>
    </dgm:pt>
    <dgm:pt modelId="{0D17B94B-FC5E-4174-B03C-2C36C32A1884}">
      <dgm:prSet phldrT="[Text]"/>
      <dgm:spPr/>
      <dgm:t>
        <a:bodyPr/>
        <a:lstStyle/>
        <a:p>
          <a:pPr>
            <a:buNone/>
          </a:pPr>
          <a:r>
            <a:rPr lang="en-PH" dirty="0"/>
            <a:t>Initial Material Take-Off (MTO) estimates drawn from early Front-End Engineering Design (FEED) rarely match physical reality, leading to severe volume growth as designs mature.</a:t>
          </a:r>
        </a:p>
      </dgm:t>
    </dgm:pt>
    <dgm:pt modelId="{376B7823-2983-4990-8F3D-E5FF602E3525}" type="parTrans" cxnId="{1C7A8D70-01CF-44BE-AD8E-FF1D6A80BDB0}">
      <dgm:prSet/>
      <dgm:spPr/>
      <dgm:t>
        <a:bodyPr/>
        <a:lstStyle/>
        <a:p>
          <a:endParaRPr lang="en-PH"/>
        </a:p>
      </dgm:t>
    </dgm:pt>
    <dgm:pt modelId="{E20A4A65-3C09-4868-BFE3-1A04F902DDF5}" type="sibTrans" cxnId="{1C7A8D70-01CF-44BE-AD8E-FF1D6A80BDB0}">
      <dgm:prSet/>
      <dgm:spPr/>
      <dgm:t>
        <a:bodyPr/>
        <a:lstStyle/>
        <a:p>
          <a:endParaRPr lang="en-PH"/>
        </a:p>
      </dgm:t>
    </dgm:pt>
    <dgm:pt modelId="{D5B37A81-B05E-4DF1-93EA-17F0FC55720A}" type="pres">
      <dgm:prSet presAssocID="{DEC089CC-3BEF-4C00-993E-0B596EDC71AE}" presName="Name0" presStyleCnt="0">
        <dgm:presLayoutVars>
          <dgm:dir/>
          <dgm:animLvl val="lvl"/>
          <dgm:resizeHandles val="exact"/>
        </dgm:presLayoutVars>
      </dgm:prSet>
      <dgm:spPr/>
    </dgm:pt>
    <dgm:pt modelId="{AF969B30-D709-4C4B-90A3-72FC2BCE0938}" type="pres">
      <dgm:prSet presAssocID="{D5212A1C-D893-4A0D-A9A5-40890A1D0500}" presName="composite" presStyleCnt="0"/>
      <dgm:spPr/>
    </dgm:pt>
    <dgm:pt modelId="{4D7A281C-4AAF-4370-885C-428F6478C81C}" type="pres">
      <dgm:prSet presAssocID="{D5212A1C-D893-4A0D-A9A5-40890A1D050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F312C96-11A9-4CCD-AF7F-49EDCF11D387}" type="pres">
      <dgm:prSet presAssocID="{D5212A1C-D893-4A0D-A9A5-40890A1D0500}" presName="desTx" presStyleLbl="alignAccFollowNode1" presStyleIdx="0" presStyleCnt="3">
        <dgm:presLayoutVars>
          <dgm:bulletEnabled val="1"/>
        </dgm:presLayoutVars>
      </dgm:prSet>
      <dgm:spPr/>
    </dgm:pt>
    <dgm:pt modelId="{39F4B2D5-4804-4AF2-9378-4E8FF1012324}" type="pres">
      <dgm:prSet presAssocID="{E0D9ECE6-BEC7-4641-ACC0-77AC187B83ED}" presName="space" presStyleCnt="0"/>
      <dgm:spPr/>
    </dgm:pt>
    <dgm:pt modelId="{91BC0FDD-42B8-4EDF-8408-ED2DE20238FF}" type="pres">
      <dgm:prSet presAssocID="{0EA8339B-9164-4A1D-9933-D5B6AE0F5137}" presName="composite" presStyleCnt="0"/>
      <dgm:spPr/>
    </dgm:pt>
    <dgm:pt modelId="{2EDE27A3-7764-4895-B775-0EA2E091BB15}" type="pres">
      <dgm:prSet presAssocID="{0EA8339B-9164-4A1D-9933-D5B6AE0F513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9702293-3E02-4322-8033-4D46F33AD307}" type="pres">
      <dgm:prSet presAssocID="{0EA8339B-9164-4A1D-9933-D5B6AE0F5137}" presName="desTx" presStyleLbl="alignAccFollowNode1" presStyleIdx="1" presStyleCnt="3">
        <dgm:presLayoutVars>
          <dgm:bulletEnabled val="1"/>
        </dgm:presLayoutVars>
      </dgm:prSet>
      <dgm:spPr/>
    </dgm:pt>
    <dgm:pt modelId="{C1957402-6990-436F-AF54-9F7FFFFB9D02}" type="pres">
      <dgm:prSet presAssocID="{595E2E14-26BA-4CFF-9575-AB87EF9453E5}" presName="space" presStyleCnt="0"/>
      <dgm:spPr/>
    </dgm:pt>
    <dgm:pt modelId="{4D0F2514-3E0C-4023-9D11-EBAE2D4B3DBC}" type="pres">
      <dgm:prSet presAssocID="{1F455567-F63E-415E-9C50-E2929E63BAE7}" presName="composite" presStyleCnt="0"/>
      <dgm:spPr/>
    </dgm:pt>
    <dgm:pt modelId="{1637445C-3055-4145-A26C-E157B08487B2}" type="pres">
      <dgm:prSet presAssocID="{1F455567-F63E-415E-9C50-E2929E63BAE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4385871-94EA-4126-B7B4-4B24D257B9C7}" type="pres">
      <dgm:prSet presAssocID="{1F455567-F63E-415E-9C50-E2929E63BAE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901F503-9B6D-4E41-8580-12FB48C44D71}" srcId="{0EA8339B-9164-4A1D-9933-D5B6AE0F5137}" destId="{2FAEB42B-CDA2-4C3B-AA93-E696F974A8A6}" srcOrd="2" destOrd="0" parTransId="{BFC95921-CE06-449A-8FAE-55516BF722B7}" sibTransId="{A10B972B-5FA0-49AE-A783-8C009C8DE03A}"/>
    <dgm:cxn modelId="{495FF404-CC37-4776-87F9-9E4E25A0544D}" type="presOf" srcId="{D5212A1C-D893-4A0D-A9A5-40890A1D0500}" destId="{4D7A281C-4AAF-4370-885C-428F6478C81C}" srcOrd="0" destOrd="0" presId="urn:microsoft.com/office/officeart/2005/8/layout/hList1"/>
    <dgm:cxn modelId="{68A5D407-5ABE-4AF9-9DBE-35CAAD10EF69}" type="presOf" srcId="{DEC089CC-3BEF-4C00-993E-0B596EDC71AE}" destId="{D5B37A81-B05E-4DF1-93EA-17F0FC55720A}" srcOrd="0" destOrd="0" presId="urn:microsoft.com/office/officeart/2005/8/layout/hList1"/>
    <dgm:cxn modelId="{E31DE90B-EFBE-447C-AC59-65401B7BC655}" srcId="{0EA8339B-9164-4A1D-9933-D5B6AE0F5137}" destId="{48BF4274-688E-47AB-B18F-E64D75D171F4}" srcOrd="1" destOrd="0" parTransId="{F109354F-D575-4FC9-8DCA-0235CB4D43BA}" sibTransId="{99843AFB-4701-4D84-9D4F-A6902DA686D8}"/>
    <dgm:cxn modelId="{9ED47D17-01AE-48C2-B0A8-0684680E139E}" type="presOf" srcId="{2FAEB42B-CDA2-4C3B-AA93-E696F974A8A6}" destId="{59702293-3E02-4322-8033-4D46F33AD307}" srcOrd="0" destOrd="2" presId="urn:microsoft.com/office/officeart/2005/8/layout/hList1"/>
    <dgm:cxn modelId="{54EF621C-14C5-422D-926B-83ECC5C195FC}" srcId="{0EA8339B-9164-4A1D-9933-D5B6AE0F5137}" destId="{C5CBBE58-0539-4120-AA26-2DB33A40E16E}" srcOrd="0" destOrd="0" parTransId="{BFF43ADD-C0CC-44CB-82E3-73BA3E4F8351}" sibTransId="{AF2CEBE2-35B3-48FD-9B75-DCB1D7DC249B}"/>
    <dgm:cxn modelId="{C1301A26-8923-4009-B646-0837FE3F167A}" type="presOf" srcId="{0EA8339B-9164-4A1D-9933-D5B6AE0F5137}" destId="{2EDE27A3-7764-4895-B775-0EA2E091BB15}" srcOrd="0" destOrd="0" presId="urn:microsoft.com/office/officeart/2005/8/layout/hList1"/>
    <dgm:cxn modelId="{31772E2E-D7CF-41DA-8E22-1E970311CE8C}" srcId="{DEC089CC-3BEF-4C00-993E-0B596EDC71AE}" destId="{1F455567-F63E-415E-9C50-E2929E63BAE7}" srcOrd="2" destOrd="0" parTransId="{03C5BDF1-3F46-43D5-A6F7-0E7FDFAF1DDA}" sibTransId="{70983492-2A69-485A-9A40-80DA0A4887A4}"/>
    <dgm:cxn modelId="{8B0DB564-2D04-4BAE-AE1A-0F3BDDA4FEF0}" type="presOf" srcId="{1F455567-F63E-415E-9C50-E2929E63BAE7}" destId="{1637445C-3055-4145-A26C-E157B08487B2}" srcOrd="0" destOrd="0" presId="urn:microsoft.com/office/officeart/2005/8/layout/hList1"/>
    <dgm:cxn modelId="{106BCC64-AF0F-44C9-BE8A-BF34BD20EFBF}" type="presOf" srcId="{34780645-6880-4383-BCBB-A9B69584D9A3}" destId="{9F312C96-11A9-4CCD-AF7F-49EDCF11D387}" srcOrd="0" destOrd="0" presId="urn:microsoft.com/office/officeart/2005/8/layout/hList1"/>
    <dgm:cxn modelId="{9057F24E-EAB8-4E6D-8B93-971E91D4C0BF}" type="presOf" srcId="{48BF4274-688E-47AB-B18F-E64D75D171F4}" destId="{59702293-3E02-4322-8033-4D46F33AD307}" srcOrd="0" destOrd="1" presId="urn:microsoft.com/office/officeart/2005/8/layout/hList1"/>
    <dgm:cxn modelId="{1C7A8D70-01CF-44BE-AD8E-FF1D6A80BDB0}" srcId="{1F455567-F63E-415E-9C50-E2929E63BAE7}" destId="{0D17B94B-FC5E-4174-B03C-2C36C32A1884}" srcOrd="0" destOrd="0" parTransId="{376B7823-2983-4990-8F3D-E5FF602E3525}" sibTransId="{E20A4A65-3C09-4868-BFE3-1A04F902DDF5}"/>
    <dgm:cxn modelId="{4A3FDC70-AD3E-45DF-9135-EACFABEAD7C1}" type="presOf" srcId="{C5CBBE58-0539-4120-AA26-2DB33A40E16E}" destId="{59702293-3E02-4322-8033-4D46F33AD307}" srcOrd="0" destOrd="0" presId="urn:microsoft.com/office/officeart/2005/8/layout/hList1"/>
    <dgm:cxn modelId="{4F45EB7D-BD20-46F9-A11B-5AC9829463D8}" type="presOf" srcId="{0D17B94B-FC5E-4174-B03C-2C36C32A1884}" destId="{24385871-94EA-4126-B7B4-4B24D257B9C7}" srcOrd="0" destOrd="0" presId="urn:microsoft.com/office/officeart/2005/8/layout/hList1"/>
    <dgm:cxn modelId="{A3994099-921A-49A0-B7F3-F86FD5D6549B}" srcId="{DEC089CC-3BEF-4C00-993E-0B596EDC71AE}" destId="{D5212A1C-D893-4A0D-A9A5-40890A1D0500}" srcOrd="0" destOrd="0" parTransId="{A0C4B5A6-EE2B-41BE-B6FF-09CC5A26A7D6}" sibTransId="{E0D9ECE6-BEC7-4641-ACC0-77AC187B83ED}"/>
    <dgm:cxn modelId="{00901AB7-824F-4AF5-AF3B-848DD9F87F89}" srcId="{DEC089CC-3BEF-4C00-993E-0B596EDC71AE}" destId="{0EA8339B-9164-4A1D-9933-D5B6AE0F5137}" srcOrd="1" destOrd="0" parTransId="{31225078-ACA6-4C9F-9611-946188D3CA6A}" sibTransId="{595E2E14-26BA-4CFF-9575-AB87EF9453E5}"/>
    <dgm:cxn modelId="{B9B5F8CA-84DD-4092-898B-382CD9D5372B}" srcId="{D5212A1C-D893-4A0D-A9A5-40890A1D0500}" destId="{34780645-6880-4383-BCBB-A9B69584D9A3}" srcOrd="0" destOrd="0" parTransId="{B10CCB71-EEAC-4400-9CF6-6C95512D4428}" sibTransId="{0F80390F-8DC3-4EE1-916C-9695FC940B91}"/>
    <dgm:cxn modelId="{C30B4EA3-D095-4C82-B130-DAFA2DB3EABF}" type="presParOf" srcId="{D5B37A81-B05E-4DF1-93EA-17F0FC55720A}" destId="{AF969B30-D709-4C4B-90A3-72FC2BCE0938}" srcOrd="0" destOrd="0" presId="urn:microsoft.com/office/officeart/2005/8/layout/hList1"/>
    <dgm:cxn modelId="{4BEA7910-B55E-480F-96E3-4A3C1726BE7C}" type="presParOf" srcId="{AF969B30-D709-4C4B-90A3-72FC2BCE0938}" destId="{4D7A281C-4AAF-4370-885C-428F6478C81C}" srcOrd="0" destOrd="0" presId="urn:microsoft.com/office/officeart/2005/8/layout/hList1"/>
    <dgm:cxn modelId="{92521201-8805-4279-AE47-21345319E1DE}" type="presParOf" srcId="{AF969B30-D709-4C4B-90A3-72FC2BCE0938}" destId="{9F312C96-11A9-4CCD-AF7F-49EDCF11D387}" srcOrd="1" destOrd="0" presId="urn:microsoft.com/office/officeart/2005/8/layout/hList1"/>
    <dgm:cxn modelId="{FDDDB2F0-2A44-49C6-B492-B994D4A6AC03}" type="presParOf" srcId="{D5B37A81-B05E-4DF1-93EA-17F0FC55720A}" destId="{39F4B2D5-4804-4AF2-9378-4E8FF1012324}" srcOrd="1" destOrd="0" presId="urn:microsoft.com/office/officeart/2005/8/layout/hList1"/>
    <dgm:cxn modelId="{60665507-79B0-4399-915D-03074A2D8187}" type="presParOf" srcId="{D5B37A81-B05E-4DF1-93EA-17F0FC55720A}" destId="{91BC0FDD-42B8-4EDF-8408-ED2DE20238FF}" srcOrd="2" destOrd="0" presId="urn:microsoft.com/office/officeart/2005/8/layout/hList1"/>
    <dgm:cxn modelId="{658E695D-1D35-42D9-BABC-7FEDEA8B1A34}" type="presParOf" srcId="{91BC0FDD-42B8-4EDF-8408-ED2DE20238FF}" destId="{2EDE27A3-7764-4895-B775-0EA2E091BB15}" srcOrd="0" destOrd="0" presId="urn:microsoft.com/office/officeart/2005/8/layout/hList1"/>
    <dgm:cxn modelId="{05A3EE1D-68E9-4438-9915-64B0FBDFD4D9}" type="presParOf" srcId="{91BC0FDD-42B8-4EDF-8408-ED2DE20238FF}" destId="{59702293-3E02-4322-8033-4D46F33AD307}" srcOrd="1" destOrd="0" presId="urn:microsoft.com/office/officeart/2005/8/layout/hList1"/>
    <dgm:cxn modelId="{296FB77B-415D-41BE-8B68-87A7D2B917B0}" type="presParOf" srcId="{D5B37A81-B05E-4DF1-93EA-17F0FC55720A}" destId="{C1957402-6990-436F-AF54-9F7FFFFB9D02}" srcOrd="3" destOrd="0" presId="urn:microsoft.com/office/officeart/2005/8/layout/hList1"/>
    <dgm:cxn modelId="{A870B2FE-71D2-484B-801A-8FFFE68BC79C}" type="presParOf" srcId="{D5B37A81-B05E-4DF1-93EA-17F0FC55720A}" destId="{4D0F2514-3E0C-4023-9D11-EBAE2D4B3DBC}" srcOrd="4" destOrd="0" presId="urn:microsoft.com/office/officeart/2005/8/layout/hList1"/>
    <dgm:cxn modelId="{0F49BF66-AA99-4780-ADA5-D8031E08F942}" type="presParOf" srcId="{4D0F2514-3E0C-4023-9D11-EBAE2D4B3DBC}" destId="{1637445C-3055-4145-A26C-E157B08487B2}" srcOrd="0" destOrd="0" presId="urn:microsoft.com/office/officeart/2005/8/layout/hList1"/>
    <dgm:cxn modelId="{18322B58-271B-4F53-9C74-5211E4B0FFF5}" type="presParOf" srcId="{4D0F2514-3E0C-4023-9D11-EBAE2D4B3DBC}" destId="{24385871-94EA-4126-B7B4-4B24D257B9C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FD329-E20C-47C3-BC9F-47887201727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PH"/>
        </a:p>
      </dgm:t>
    </dgm:pt>
    <dgm:pt modelId="{308F2F06-B541-4B0F-8B37-4095970EFB57}" type="pres">
      <dgm:prSet presAssocID="{753FD329-E20C-47C3-BC9F-478872017270}" presName="diagram" presStyleCnt="0">
        <dgm:presLayoutVars>
          <dgm:dir/>
          <dgm:resizeHandles val="exact"/>
        </dgm:presLayoutVars>
      </dgm:prSet>
      <dgm:spPr/>
    </dgm:pt>
  </dgm:ptLst>
  <dgm:cxnLst>
    <dgm:cxn modelId="{0B60C864-D63F-4A95-918F-EC8764A41BF8}" type="presOf" srcId="{753FD329-E20C-47C3-BC9F-478872017270}" destId="{308F2F06-B541-4B0F-8B37-4095970EFB5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2DEC66-7714-4412-B457-8C6F05740DA1}" type="doc">
      <dgm:prSet loTypeId="urn:microsoft.com/office/officeart/2005/8/layout/bList2" loCatId="list" qsTypeId="urn:microsoft.com/office/officeart/2005/8/quickstyle/3d4" qsCatId="3D" csTypeId="urn:microsoft.com/office/officeart/2005/8/colors/accent0_1" csCatId="mainScheme" phldr="1"/>
      <dgm:spPr/>
      <dgm:t>
        <a:bodyPr/>
        <a:lstStyle/>
        <a:p>
          <a:endParaRPr lang="en-PH"/>
        </a:p>
      </dgm:t>
    </dgm:pt>
    <dgm:pt modelId="{92DB21BC-C43D-4D35-B412-BBABEF35AFE9}">
      <dgm:prSet phldrT="[Text]" phldr="0" custT="1"/>
      <dgm:spPr/>
      <dgm:t>
        <a:bodyPr wrap="square" rtlCol="0"/>
        <a:lstStyle/>
        <a:p>
          <a:r>
            <a:rPr lang="en-US" sz="1800" b="1" kern="1200" dirty="0">
              <a:latin typeface="+mn-lt"/>
              <a:ea typeface="+mn-ea"/>
              <a:cs typeface="+mn-cs"/>
            </a:rPr>
            <a:t>Task 1: Classification</a:t>
          </a:r>
          <a:r>
            <a:rPr lang="en-US" sz="1800" b="1" kern="1200" dirty="0"/>
            <a:t> (Risk Flagging)</a:t>
          </a:r>
          <a:endParaRPr lang="en-PH" sz="1800" b="1" kern="1200" dirty="0"/>
        </a:p>
      </dgm:t>
    </dgm:pt>
    <dgm:pt modelId="{E743B541-1A9B-4AE7-AEE5-D1DC3B38ED0A}" type="parTrans" cxnId="{19B5E0AA-DA25-4547-A24E-978FDF086EDA}">
      <dgm:prSet/>
      <dgm:spPr/>
      <dgm:t>
        <a:bodyPr/>
        <a:lstStyle/>
        <a:p>
          <a:endParaRPr lang="en-PH" sz="1800"/>
        </a:p>
      </dgm:t>
    </dgm:pt>
    <dgm:pt modelId="{F6468DC3-8975-4365-B8C9-A6EA6FC4A5F3}" type="sibTrans" cxnId="{19B5E0AA-DA25-4547-A24E-978FDF086EDA}">
      <dgm:prSet/>
      <dgm:spPr/>
      <dgm:t>
        <a:bodyPr/>
        <a:lstStyle/>
        <a:p>
          <a:endParaRPr lang="en-PH" sz="1800"/>
        </a:p>
      </dgm:t>
    </dgm:pt>
    <dgm:pt modelId="{1E18FB82-5953-4882-B9E4-F64663782958}">
      <dgm:prSet phldrT="[Text]" phldr="0" custT="1"/>
      <dgm:spPr/>
      <dgm:t>
        <a:bodyPr wrap="square" rtlCol="0"/>
        <a:lstStyle/>
        <a:p>
          <a:r>
            <a:rPr lang="en-US" sz="1800" b="1" kern="1200" dirty="0"/>
            <a:t>Task 2: Regression (</a:t>
          </a:r>
          <a:r>
            <a:rPr lang="en-US" sz="1800" b="1" kern="1200" dirty="0">
              <a:latin typeface="+mn-lt"/>
              <a:ea typeface="+mn-ea"/>
              <a:cs typeface="+mn-cs"/>
            </a:rPr>
            <a:t>Growth</a:t>
          </a:r>
          <a:r>
            <a:rPr lang="en-US" sz="1800" b="1" kern="1200" dirty="0"/>
            <a:t> Quantification)</a:t>
          </a:r>
          <a:endParaRPr lang="en-PH" sz="1800" b="1" kern="1200" dirty="0"/>
        </a:p>
      </dgm:t>
    </dgm:pt>
    <dgm:pt modelId="{EA3B5F24-CDCD-4926-99ED-E7198FB90F8B}" type="parTrans" cxnId="{1946A147-49CA-4C4A-B35D-0BBA4B5776FE}">
      <dgm:prSet/>
      <dgm:spPr/>
      <dgm:t>
        <a:bodyPr/>
        <a:lstStyle/>
        <a:p>
          <a:endParaRPr lang="en-PH" sz="1800"/>
        </a:p>
      </dgm:t>
    </dgm:pt>
    <dgm:pt modelId="{5EF39095-204C-4F6F-B607-F30B208F20BC}" type="sibTrans" cxnId="{1946A147-49CA-4C4A-B35D-0BBA4B5776FE}">
      <dgm:prSet/>
      <dgm:spPr/>
      <dgm:t>
        <a:bodyPr/>
        <a:lstStyle/>
        <a:p>
          <a:endParaRPr lang="en-PH" sz="1800"/>
        </a:p>
      </dgm:t>
    </dgm:pt>
    <dgm:pt modelId="{A778BCD3-6A9F-4B47-8E7E-31792F001237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PH" sz="1800" b="1" kern="1200" dirty="0"/>
            <a:t>Model:</a:t>
          </a:r>
          <a:r>
            <a:rPr lang="en-PH" sz="1800" kern="1200" dirty="0"/>
            <a:t> Champion </a:t>
          </a:r>
          <a:r>
            <a:rPr lang="en-PH" sz="1800" kern="1200" dirty="0" err="1"/>
            <a:t>LightGBM</a:t>
          </a:r>
          <a:r>
            <a:rPr lang="en-PH" sz="1800" kern="1200" dirty="0"/>
            <a:t> Classifier</a:t>
          </a:r>
          <a:endParaRPr lang="en-PH" sz="1800" b="1" kern="1200" dirty="0"/>
        </a:p>
      </dgm:t>
    </dgm:pt>
    <dgm:pt modelId="{022CB007-F7B2-4800-B0EA-50214345A580}" type="parTrans" cxnId="{BE5B65A9-9A65-4497-9549-62E4E81CA324}">
      <dgm:prSet/>
      <dgm:spPr/>
      <dgm:t>
        <a:bodyPr/>
        <a:lstStyle/>
        <a:p>
          <a:endParaRPr lang="en-PH" sz="1800"/>
        </a:p>
      </dgm:t>
    </dgm:pt>
    <dgm:pt modelId="{6CC556BE-3DF0-4A0B-8C34-5E1AD9C1ADB3}" type="sibTrans" cxnId="{BE5B65A9-9A65-4497-9549-62E4E81CA324}">
      <dgm:prSet/>
      <dgm:spPr/>
      <dgm:t>
        <a:bodyPr/>
        <a:lstStyle/>
        <a:p>
          <a:endParaRPr lang="en-PH" sz="1800"/>
        </a:p>
      </dgm:t>
    </dgm:pt>
    <dgm:pt modelId="{08EF6161-1C3B-4867-8A62-3B0FB412FE53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PH" sz="1800" b="1" dirty="0"/>
            <a:t>Result:</a:t>
          </a:r>
          <a:r>
            <a:rPr lang="en-PH" sz="1800" dirty="0"/>
            <a:t> Achieves a 97.41% PR-AUC score.</a:t>
          </a:r>
        </a:p>
      </dgm:t>
    </dgm:pt>
    <dgm:pt modelId="{BFF61B50-1396-4F52-A530-8831E09F4FD0}" type="parTrans" cxnId="{E925630F-9301-48D0-8004-F9384712C89D}">
      <dgm:prSet/>
      <dgm:spPr/>
      <dgm:t>
        <a:bodyPr/>
        <a:lstStyle/>
        <a:p>
          <a:endParaRPr lang="en-PH" sz="1800"/>
        </a:p>
      </dgm:t>
    </dgm:pt>
    <dgm:pt modelId="{45695C3A-6417-4F02-AB9A-DFE622D0FB77}" type="sibTrans" cxnId="{E925630F-9301-48D0-8004-F9384712C89D}">
      <dgm:prSet/>
      <dgm:spPr/>
      <dgm:t>
        <a:bodyPr/>
        <a:lstStyle/>
        <a:p>
          <a:endParaRPr lang="en-PH" sz="1800"/>
        </a:p>
      </dgm:t>
    </dgm:pt>
    <dgm:pt modelId="{8B20B71A-4449-4402-AF1E-B968D2DAF11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PH" sz="1800" b="1"/>
            <a:t>Value:</a:t>
          </a:r>
          <a:r>
            <a:rPr lang="en-PH" sz="1800"/>
            <a:t> Highly sensitive to predicting "danger zones" without triggering excessive false alarms.</a:t>
          </a:r>
        </a:p>
      </dgm:t>
    </dgm:pt>
    <dgm:pt modelId="{C75FC8B9-86A5-417B-A59C-B399395CF175}" type="parTrans" cxnId="{ED89B661-19F8-45CD-A213-1A86DDCA94F6}">
      <dgm:prSet/>
      <dgm:spPr/>
      <dgm:t>
        <a:bodyPr/>
        <a:lstStyle/>
        <a:p>
          <a:endParaRPr lang="en-PH" sz="1800"/>
        </a:p>
      </dgm:t>
    </dgm:pt>
    <dgm:pt modelId="{E2BAE3BA-A0F9-460C-A3C5-E7EAA358F1A8}" type="sibTrans" cxnId="{ED89B661-19F8-45CD-A213-1A86DDCA94F6}">
      <dgm:prSet/>
      <dgm:spPr/>
      <dgm:t>
        <a:bodyPr/>
        <a:lstStyle/>
        <a:p>
          <a:endParaRPr lang="en-PH" sz="1800"/>
        </a:p>
      </dgm:t>
    </dgm:pt>
    <dgm:pt modelId="{0959E49D-61C4-4AD3-B35B-D93429E23DA0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sz="1800" b="1" kern="1200"/>
            <a:t>Model:</a:t>
          </a:r>
          <a:r>
            <a:rPr lang="en-PH" sz="1800" kern="1200"/>
            <a:t> Champion LightGBM Regressor</a:t>
          </a:r>
          <a:endParaRPr lang="en-PH" sz="1800" b="1" kern="1200" dirty="0"/>
        </a:p>
      </dgm:t>
    </dgm:pt>
    <dgm:pt modelId="{37100B53-50C9-4EA2-8300-1B5D05860AB9}" type="parTrans" cxnId="{56FE84EF-7E5A-402B-AB40-DA6EF85BCAF9}">
      <dgm:prSet/>
      <dgm:spPr/>
      <dgm:t>
        <a:bodyPr/>
        <a:lstStyle/>
        <a:p>
          <a:endParaRPr lang="en-PH" sz="1800"/>
        </a:p>
      </dgm:t>
    </dgm:pt>
    <dgm:pt modelId="{D6250B10-3052-434A-8039-B0CB0B6DB621}" type="sibTrans" cxnId="{56FE84EF-7E5A-402B-AB40-DA6EF85BCAF9}">
      <dgm:prSet/>
      <dgm:spPr/>
      <dgm:t>
        <a:bodyPr/>
        <a:lstStyle/>
        <a:p>
          <a:endParaRPr lang="en-PH" sz="1800"/>
        </a:p>
      </dgm:t>
    </dgm:pt>
    <dgm:pt modelId="{AB20DDA9-9A63-4A3C-A03A-B761A6D04C5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sz="1800" b="1"/>
            <a:t>Result:</a:t>
          </a:r>
          <a:r>
            <a:rPr lang="en-PH" sz="1800"/>
            <a:t> Restricts residual variance to ~3.5% (RMSE).</a:t>
          </a:r>
        </a:p>
      </dgm:t>
    </dgm:pt>
    <dgm:pt modelId="{547C5380-372B-4694-A16A-258F107F3FC0}" type="parTrans" cxnId="{9BDF8B3C-2F45-41B5-A676-16C8F7C02292}">
      <dgm:prSet/>
      <dgm:spPr/>
      <dgm:t>
        <a:bodyPr/>
        <a:lstStyle/>
        <a:p>
          <a:endParaRPr lang="en-PH" sz="1800"/>
        </a:p>
      </dgm:t>
    </dgm:pt>
    <dgm:pt modelId="{D0C63800-14F6-4066-ACCB-78D24A009D42}" type="sibTrans" cxnId="{9BDF8B3C-2F45-41B5-A676-16C8F7C02292}">
      <dgm:prSet/>
      <dgm:spPr/>
      <dgm:t>
        <a:bodyPr/>
        <a:lstStyle/>
        <a:p>
          <a:endParaRPr lang="en-PH" sz="1800"/>
        </a:p>
      </dgm:t>
    </dgm:pt>
    <dgm:pt modelId="{117FF1E0-994E-4D74-86DC-00E7434E6A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sz="1800" b="1" dirty="0"/>
            <a:t>Value:</a:t>
          </a:r>
          <a:r>
            <a:rPr lang="en-PH" sz="1800" dirty="0"/>
            <a:t> Provides a mathematically proven uncertainty band, drastically outperforming standard linear estimating techniques.</a:t>
          </a:r>
        </a:p>
      </dgm:t>
    </dgm:pt>
    <dgm:pt modelId="{B2E1C688-D622-44FB-8A34-5DA654D752FD}" type="parTrans" cxnId="{94665789-2B11-4D8E-9EB4-0744838F072D}">
      <dgm:prSet/>
      <dgm:spPr/>
      <dgm:t>
        <a:bodyPr/>
        <a:lstStyle/>
        <a:p>
          <a:endParaRPr lang="en-PH" sz="1800"/>
        </a:p>
      </dgm:t>
    </dgm:pt>
    <dgm:pt modelId="{205C7289-A154-444A-8805-FDF1D8600F2B}" type="sibTrans" cxnId="{94665789-2B11-4D8E-9EB4-0744838F072D}">
      <dgm:prSet/>
      <dgm:spPr/>
      <dgm:t>
        <a:bodyPr/>
        <a:lstStyle/>
        <a:p>
          <a:endParaRPr lang="en-PH" sz="1800"/>
        </a:p>
      </dgm:t>
    </dgm:pt>
    <dgm:pt modelId="{420FA39D-D68F-4AEC-952F-90EB846F4C36}" type="pres">
      <dgm:prSet presAssocID="{1C2DEC66-7714-4412-B457-8C6F05740DA1}" presName="diagram" presStyleCnt="0">
        <dgm:presLayoutVars>
          <dgm:dir/>
          <dgm:animLvl val="lvl"/>
          <dgm:resizeHandles val="exact"/>
        </dgm:presLayoutVars>
      </dgm:prSet>
      <dgm:spPr/>
    </dgm:pt>
    <dgm:pt modelId="{63AD9D7F-DFBC-48CB-9CEC-59C06446C925}" type="pres">
      <dgm:prSet presAssocID="{92DB21BC-C43D-4D35-B412-BBABEF35AFE9}" presName="compNode" presStyleCnt="0"/>
      <dgm:spPr/>
    </dgm:pt>
    <dgm:pt modelId="{C24A6D0E-73D6-456C-8CFF-E599B740D714}" type="pres">
      <dgm:prSet presAssocID="{92DB21BC-C43D-4D35-B412-BBABEF35AFE9}" presName="childRect" presStyleLbl="bgAcc1" presStyleIdx="0" presStyleCnt="2">
        <dgm:presLayoutVars>
          <dgm:bulletEnabled val="1"/>
        </dgm:presLayoutVars>
      </dgm:prSet>
      <dgm:spPr/>
    </dgm:pt>
    <dgm:pt modelId="{A5292616-F33D-4567-9976-0E1780CEA579}" type="pres">
      <dgm:prSet presAssocID="{92DB21BC-C43D-4D35-B412-BBABEF35AFE9}" presName="parentText" presStyleLbl="node1" presStyleIdx="0" presStyleCnt="0">
        <dgm:presLayoutVars>
          <dgm:chMax val="0"/>
          <dgm:bulletEnabled val="1"/>
        </dgm:presLayoutVars>
      </dgm:prSet>
      <dgm:spPr>
        <a:xfrm>
          <a:off x="1604366" y="2379189"/>
          <a:ext cx="2242056" cy="1021929"/>
        </a:xfrm>
        <a:prstGeom prst="rect">
          <a:avLst/>
        </a:prstGeom>
      </dgm:spPr>
    </dgm:pt>
    <dgm:pt modelId="{37E91582-8D6E-4D24-833C-A6ABD769D8FA}" type="pres">
      <dgm:prSet presAssocID="{92DB21BC-C43D-4D35-B412-BBABEF35AFE9}" presName="parentRect" presStyleLbl="alignNode1" presStyleIdx="0" presStyleCnt="2"/>
      <dgm:spPr/>
    </dgm:pt>
    <dgm:pt modelId="{9ACBF42D-7F1D-4924-A68F-2A57FE9B8C0D}" type="pres">
      <dgm:prSet presAssocID="{92DB21BC-C43D-4D35-B412-BBABEF35AFE9}" presName="adorn" presStyleLbl="fgAccFollow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C4C1B7F6-7C5C-41F6-BBC6-4AEE634ED5D0}" type="pres">
      <dgm:prSet presAssocID="{F6468DC3-8975-4365-B8C9-A6EA6FC4A5F3}" presName="sibTrans" presStyleLbl="sibTrans2D1" presStyleIdx="0" presStyleCnt="0"/>
      <dgm:spPr/>
    </dgm:pt>
    <dgm:pt modelId="{B50A777B-EAC6-437E-8554-2206BAEDB5E0}" type="pres">
      <dgm:prSet presAssocID="{1E18FB82-5953-4882-B9E4-F64663782958}" presName="compNode" presStyleCnt="0"/>
      <dgm:spPr/>
    </dgm:pt>
    <dgm:pt modelId="{72E92786-EA25-4E91-9AD9-81732E088059}" type="pres">
      <dgm:prSet presAssocID="{1E18FB82-5953-4882-B9E4-F64663782958}" presName="childRect" presStyleLbl="bgAcc1" presStyleIdx="1" presStyleCnt="2">
        <dgm:presLayoutVars>
          <dgm:bulletEnabled val="1"/>
        </dgm:presLayoutVars>
      </dgm:prSet>
      <dgm:spPr/>
    </dgm:pt>
    <dgm:pt modelId="{9A130148-2F0B-4970-B01F-A2CAA77519F3}" type="pres">
      <dgm:prSet presAssocID="{1E18FB82-5953-4882-B9E4-F64663782958}" presName="parentText" presStyleLbl="node1" presStyleIdx="0" presStyleCnt="0">
        <dgm:presLayoutVars>
          <dgm:chMax val="0"/>
          <dgm:bulletEnabled val="1"/>
        </dgm:presLayoutVars>
      </dgm:prSet>
      <dgm:spPr>
        <a:xfrm>
          <a:off x="5326848" y="2379189"/>
          <a:ext cx="2242056" cy="1021929"/>
        </a:xfrm>
        <a:prstGeom prst="rect">
          <a:avLst/>
        </a:prstGeom>
      </dgm:spPr>
    </dgm:pt>
    <dgm:pt modelId="{B565E6D2-8C8F-45A6-BD70-12F1A842EA19}" type="pres">
      <dgm:prSet presAssocID="{1E18FB82-5953-4882-B9E4-F64663782958}" presName="parentRect" presStyleLbl="alignNode1" presStyleIdx="1" presStyleCnt="2"/>
      <dgm:spPr/>
    </dgm:pt>
    <dgm:pt modelId="{F2A20F59-277F-4F32-ADCA-996DDB48C6AF}" type="pres">
      <dgm:prSet presAssocID="{1E18FB82-5953-4882-B9E4-F64663782958}" presName="adorn" presStyleLbl="fgAccFollow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</dgm:ptLst>
  <dgm:cxnLst>
    <dgm:cxn modelId="{EB422B02-81FB-48ED-BF48-05CC83C35D79}" type="presOf" srcId="{08EF6161-1C3B-4867-8A62-3B0FB412FE53}" destId="{C24A6D0E-73D6-456C-8CFF-E599B740D714}" srcOrd="0" destOrd="1" presId="urn:microsoft.com/office/officeart/2005/8/layout/bList2"/>
    <dgm:cxn modelId="{33A47108-4A80-4166-ACE5-27FF093492FC}" type="presOf" srcId="{A778BCD3-6A9F-4B47-8E7E-31792F001237}" destId="{C24A6D0E-73D6-456C-8CFF-E599B740D714}" srcOrd="0" destOrd="0" presId="urn:microsoft.com/office/officeart/2005/8/layout/bList2"/>
    <dgm:cxn modelId="{E925630F-9301-48D0-8004-F9384712C89D}" srcId="{92DB21BC-C43D-4D35-B412-BBABEF35AFE9}" destId="{08EF6161-1C3B-4867-8A62-3B0FB412FE53}" srcOrd="1" destOrd="0" parTransId="{BFF61B50-1396-4F52-A530-8831E09F4FD0}" sibTransId="{45695C3A-6417-4F02-AB9A-DFE622D0FB77}"/>
    <dgm:cxn modelId="{614BD715-1E8F-4359-944B-C83E1A755AB7}" type="presOf" srcId="{AB20DDA9-9A63-4A3C-A03A-B761A6D04C58}" destId="{72E92786-EA25-4E91-9AD9-81732E088059}" srcOrd="0" destOrd="1" presId="urn:microsoft.com/office/officeart/2005/8/layout/bList2"/>
    <dgm:cxn modelId="{91D36D19-BA73-42A7-8BAC-D66CFB1E7FE7}" type="presOf" srcId="{1C2DEC66-7714-4412-B457-8C6F05740DA1}" destId="{420FA39D-D68F-4AEC-952F-90EB846F4C36}" srcOrd="0" destOrd="0" presId="urn:microsoft.com/office/officeart/2005/8/layout/bList2"/>
    <dgm:cxn modelId="{1EE8CE2D-5A25-42CF-AB74-55DB22C4E14D}" type="presOf" srcId="{92DB21BC-C43D-4D35-B412-BBABEF35AFE9}" destId="{37E91582-8D6E-4D24-833C-A6ABD769D8FA}" srcOrd="1" destOrd="0" presId="urn:microsoft.com/office/officeart/2005/8/layout/bList2"/>
    <dgm:cxn modelId="{479F5B39-AED9-4FF3-AA4A-CC3AEAF78494}" type="presOf" srcId="{92DB21BC-C43D-4D35-B412-BBABEF35AFE9}" destId="{A5292616-F33D-4567-9976-0E1780CEA579}" srcOrd="0" destOrd="0" presId="urn:microsoft.com/office/officeart/2005/8/layout/bList2"/>
    <dgm:cxn modelId="{9BDF8B3C-2F45-41B5-A676-16C8F7C02292}" srcId="{1E18FB82-5953-4882-B9E4-F64663782958}" destId="{AB20DDA9-9A63-4A3C-A03A-B761A6D04C58}" srcOrd="1" destOrd="0" parTransId="{547C5380-372B-4694-A16A-258F107F3FC0}" sibTransId="{D0C63800-14F6-4066-ACCB-78D24A009D42}"/>
    <dgm:cxn modelId="{ED89B661-19F8-45CD-A213-1A86DDCA94F6}" srcId="{92DB21BC-C43D-4D35-B412-BBABEF35AFE9}" destId="{8B20B71A-4449-4402-AF1E-B968D2DAF111}" srcOrd="2" destOrd="0" parTransId="{C75FC8B9-86A5-417B-A59C-B399395CF175}" sibTransId="{E2BAE3BA-A0F9-460C-A3C5-E7EAA358F1A8}"/>
    <dgm:cxn modelId="{1946A147-49CA-4C4A-B35D-0BBA4B5776FE}" srcId="{1C2DEC66-7714-4412-B457-8C6F05740DA1}" destId="{1E18FB82-5953-4882-B9E4-F64663782958}" srcOrd="1" destOrd="0" parTransId="{EA3B5F24-CDCD-4926-99ED-E7198FB90F8B}" sibTransId="{5EF39095-204C-4F6F-B607-F30B208F20BC}"/>
    <dgm:cxn modelId="{94665789-2B11-4D8E-9EB4-0744838F072D}" srcId="{1E18FB82-5953-4882-B9E4-F64663782958}" destId="{117FF1E0-994E-4D74-86DC-00E7434E6AE4}" srcOrd="2" destOrd="0" parTransId="{B2E1C688-D622-44FB-8A34-5DA654D752FD}" sibTransId="{205C7289-A154-444A-8805-FDF1D8600F2B}"/>
    <dgm:cxn modelId="{34C41F97-80D8-4CD5-AC3C-CEA90CD14F62}" type="presOf" srcId="{F6468DC3-8975-4365-B8C9-A6EA6FC4A5F3}" destId="{C4C1B7F6-7C5C-41F6-BBC6-4AEE634ED5D0}" srcOrd="0" destOrd="0" presId="urn:microsoft.com/office/officeart/2005/8/layout/bList2"/>
    <dgm:cxn modelId="{49BC03A4-60A9-4BC5-B411-5564072543DC}" type="presOf" srcId="{0959E49D-61C4-4AD3-B35B-D93429E23DA0}" destId="{72E92786-EA25-4E91-9AD9-81732E088059}" srcOrd="0" destOrd="0" presId="urn:microsoft.com/office/officeart/2005/8/layout/bList2"/>
    <dgm:cxn modelId="{F4114CA4-B462-46E9-83EA-CC4885269D7E}" type="presOf" srcId="{1E18FB82-5953-4882-B9E4-F64663782958}" destId="{9A130148-2F0B-4970-B01F-A2CAA77519F3}" srcOrd="0" destOrd="0" presId="urn:microsoft.com/office/officeart/2005/8/layout/bList2"/>
    <dgm:cxn modelId="{BE5B65A9-9A65-4497-9549-62E4E81CA324}" srcId="{92DB21BC-C43D-4D35-B412-BBABEF35AFE9}" destId="{A778BCD3-6A9F-4B47-8E7E-31792F001237}" srcOrd="0" destOrd="0" parTransId="{022CB007-F7B2-4800-B0EA-50214345A580}" sibTransId="{6CC556BE-3DF0-4A0B-8C34-5E1AD9C1ADB3}"/>
    <dgm:cxn modelId="{19B5E0AA-DA25-4547-A24E-978FDF086EDA}" srcId="{1C2DEC66-7714-4412-B457-8C6F05740DA1}" destId="{92DB21BC-C43D-4D35-B412-BBABEF35AFE9}" srcOrd="0" destOrd="0" parTransId="{E743B541-1A9B-4AE7-AEE5-D1DC3B38ED0A}" sibTransId="{F6468DC3-8975-4365-B8C9-A6EA6FC4A5F3}"/>
    <dgm:cxn modelId="{8568CAB4-C974-4FB8-840D-26AB140B5395}" type="presOf" srcId="{8B20B71A-4449-4402-AF1E-B968D2DAF111}" destId="{C24A6D0E-73D6-456C-8CFF-E599B740D714}" srcOrd="0" destOrd="2" presId="urn:microsoft.com/office/officeart/2005/8/layout/bList2"/>
    <dgm:cxn modelId="{9616FDDC-37E6-4B08-BE9B-35319E43A615}" type="presOf" srcId="{117FF1E0-994E-4D74-86DC-00E7434E6AE4}" destId="{72E92786-EA25-4E91-9AD9-81732E088059}" srcOrd="0" destOrd="2" presId="urn:microsoft.com/office/officeart/2005/8/layout/bList2"/>
    <dgm:cxn modelId="{DC7B08E7-C437-40FA-8253-557761F3B316}" type="presOf" srcId="{1E18FB82-5953-4882-B9E4-F64663782958}" destId="{B565E6D2-8C8F-45A6-BD70-12F1A842EA19}" srcOrd="1" destOrd="0" presId="urn:microsoft.com/office/officeart/2005/8/layout/bList2"/>
    <dgm:cxn modelId="{56FE84EF-7E5A-402B-AB40-DA6EF85BCAF9}" srcId="{1E18FB82-5953-4882-B9E4-F64663782958}" destId="{0959E49D-61C4-4AD3-B35B-D93429E23DA0}" srcOrd="0" destOrd="0" parTransId="{37100B53-50C9-4EA2-8300-1B5D05860AB9}" sibTransId="{D6250B10-3052-434A-8039-B0CB0B6DB621}"/>
    <dgm:cxn modelId="{FA80C6F7-9B6D-4E2D-B025-653E3C5FC56F}" type="presParOf" srcId="{420FA39D-D68F-4AEC-952F-90EB846F4C36}" destId="{63AD9D7F-DFBC-48CB-9CEC-59C06446C925}" srcOrd="0" destOrd="0" presId="urn:microsoft.com/office/officeart/2005/8/layout/bList2"/>
    <dgm:cxn modelId="{A8DBF6CC-C570-49E7-B557-6202984DE669}" type="presParOf" srcId="{63AD9D7F-DFBC-48CB-9CEC-59C06446C925}" destId="{C24A6D0E-73D6-456C-8CFF-E599B740D714}" srcOrd="0" destOrd="0" presId="urn:microsoft.com/office/officeart/2005/8/layout/bList2"/>
    <dgm:cxn modelId="{9834B0ED-C945-4C5D-8E13-78FA64ED8983}" type="presParOf" srcId="{63AD9D7F-DFBC-48CB-9CEC-59C06446C925}" destId="{A5292616-F33D-4567-9976-0E1780CEA579}" srcOrd="1" destOrd="0" presId="urn:microsoft.com/office/officeart/2005/8/layout/bList2"/>
    <dgm:cxn modelId="{AD666725-F72E-4AAA-88FE-24B549E0CEB3}" type="presParOf" srcId="{63AD9D7F-DFBC-48CB-9CEC-59C06446C925}" destId="{37E91582-8D6E-4D24-833C-A6ABD769D8FA}" srcOrd="2" destOrd="0" presId="urn:microsoft.com/office/officeart/2005/8/layout/bList2"/>
    <dgm:cxn modelId="{8DC03921-AC52-47AA-BB53-803F22A5F14D}" type="presParOf" srcId="{63AD9D7F-DFBC-48CB-9CEC-59C06446C925}" destId="{9ACBF42D-7F1D-4924-A68F-2A57FE9B8C0D}" srcOrd="3" destOrd="0" presId="urn:microsoft.com/office/officeart/2005/8/layout/bList2"/>
    <dgm:cxn modelId="{F937C708-08D3-4881-AE92-E42190C8306B}" type="presParOf" srcId="{420FA39D-D68F-4AEC-952F-90EB846F4C36}" destId="{C4C1B7F6-7C5C-41F6-BBC6-4AEE634ED5D0}" srcOrd="1" destOrd="0" presId="urn:microsoft.com/office/officeart/2005/8/layout/bList2"/>
    <dgm:cxn modelId="{8899A225-6C87-439E-92FF-8B057B5288F9}" type="presParOf" srcId="{420FA39D-D68F-4AEC-952F-90EB846F4C36}" destId="{B50A777B-EAC6-437E-8554-2206BAEDB5E0}" srcOrd="2" destOrd="0" presId="urn:microsoft.com/office/officeart/2005/8/layout/bList2"/>
    <dgm:cxn modelId="{264191F9-E347-4D9B-86DA-565C1DB431D0}" type="presParOf" srcId="{B50A777B-EAC6-437E-8554-2206BAEDB5E0}" destId="{72E92786-EA25-4E91-9AD9-81732E088059}" srcOrd="0" destOrd="0" presId="urn:microsoft.com/office/officeart/2005/8/layout/bList2"/>
    <dgm:cxn modelId="{B9272D4D-0083-42B2-B914-EB25F55BCE7D}" type="presParOf" srcId="{B50A777B-EAC6-437E-8554-2206BAEDB5E0}" destId="{9A130148-2F0B-4970-B01F-A2CAA77519F3}" srcOrd="1" destOrd="0" presId="urn:microsoft.com/office/officeart/2005/8/layout/bList2"/>
    <dgm:cxn modelId="{8893190F-B6B8-4491-B022-6D34C2C77307}" type="presParOf" srcId="{B50A777B-EAC6-437E-8554-2206BAEDB5E0}" destId="{B565E6D2-8C8F-45A6-BD70-12F1A842EA19}" srcOrd="2" destOrd="0" presId="urn:microsoft.com/office/officeart/2005/8/layout/bList2"/>
    <dgm:cxn modelId="{41066E91-2031-4777-B56F-069CB0179FDC}" type="presParOf" srcId="{B50A777B-EAC6-437E-8554-2206BAEDB5E0}" destId="{F2A20F59-277F-4F32-ADCA-996DDB48C6AF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A833DA-5D25-4D49-9B52-66CF887B8FF3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PH"/>
        </a:p>
      </dgm:t>
    </dgm:pt>
    <dgm:pt modelId="{0F9905CE-CC43-45C8-BFA2-14437A4D00D8}">
      <dgm:prSet phldrT="[Text]" phldr="0"/>
      <dgm:spPr/>
      <dgm:t>
        <a:bodyPr/>
        <a:lstStyle/>
        <a:p>
          <a:r>
            <a:rPr lang="en-US" b="1" dirty="0"/>
            <a:t>Sharper Bid Competitiveness</a:t>
          </a:r>
          <a:endParaRPr lang="en-PH" b="1" dirty="0"/>
        </a:p>
      </dgm:t>
    </dgm:pt>
    <dgm:pt modelId="{729CD945-F64B-48CB-B784-6D6D9A3582B1}" type="parTrans" cxnId="{7EB0AFC5-F68F-4A03-9BA0-3B45DD96207B}">
      <dgm:prSet/>
      <dgm:spPr/>
      <dgm:t>
        <a:bodyPr/>
        <a:lstStyle/>
        <a:p>
          <a:endParaRPr lang="en-PH"/>
        </a:p>
      </dgm:t>
    </dgm:pt>
    <dgm:pt modelId="{77EE517B-2F71-40B4-BDF8-E14C0F2AFB43}" type="sibTrans" cxnId="{7EB0AFC5-F68F-4A03-9BA0-3B45DD96207B}">
      <dgm:prSet/>
      <dgm:spPr/>
      <dgm:t>
        <a:bodyPr/>
        <a:lstStyle/>
        <a:p>
          <a:endParaRPr lang="en-PH"/>
        </a:p>
      </dgm:t>
    </dgm:pt>
    <dgm:pt modelId="{26EAC55A-F86E-4886-B9D4-A53BB3DEF262}">
      <dgm:prSet phldrT="[Text]" phldr="0"/>
      <dgm:spPr/>
      <dgm:t>
        <a:bodyPr/>
        <a:lstStyle/>
        <a:p>
          <a:r>
            <a:rPr lang="en-US" dirty="0"/>
            <a:t>Unnecessary contingency padding on low-complexity utility circuits (e.g., carbon steel, 100% laser-scanned) is pruned, allowing linear, more competitive LSTK bids.</a:t>
          </a:r>
          <a:endParaRPr lang="en-PH" dirty="0"/>
        </a:p>
      </dgm:t>
    </dgm:pt>
    <dgm:pt modelId="{7EB6046C-8CFD-425D-8307-879FCFF2C852}" type="parTrans" cxnId="{A905D8A1-4C80-4568-B1DB-B244E162D6AD}">
      <dgm:prSet/>
      <dgm:spPr/>
      <dgm:t>
        <a:bodyPr/>
        <a:lstStyle/>
        <a:p>
          <a:endParaRPr lang="en-PH"/>
        </a:p>
      </dgm:t>
    </dgm:pt>
    <dgm:pt modelId="{5E9B026E-AED2-4B69-8A00-27C33CBE57EE}" type="sibTrans" cxnId="{A905D8A1-4C80-4568-B1DB-B244E162D6AD}">
      <dgm:prSet/>
      <dgm:spPr/>
      <dgm:t>
        <a:bodyPr/>
        <a:lstStyle/>
        <a:p>
          <a:endParaRPr lang="en-PH"/>
        </a:p>
      </dgm:t>
    </dgm:pt>
    <dgm:pt modelId="{7030E053-31F5-4E93-AC0D-B0219B7ADE52}">
      <dgm:prSet phldrT="[Text]" phldr="0"/>
      <dgm:spPr/>
      <dgm:t>
        <a:bodyPr/>
        <a:lstStyle/>
        <a:p>
          <a:r>
            <a:rPr lang="en-US" b="1" dirty="0"/>
            <a:t>Targeted Protection for Critical Paths</a:t>
          </a:r>
          <a:endParaRPr lang="en-PH" b="1" dirty="0"/>
        </a:p>
      </dgm:t>
    </dgm:pt>
    <dgm:pt modelId="{D3D3AC64-C864-4EB3-86AE-3B4597F9B7CE}" type="parTrans" cxnId="{559F841F-7890-4EAF-B367-40CE7F6415D5}">
      <dgm:prSet/>
      <dgm:spPr/>
      <dgm:t>
        <a:bodyPr/>
        <a:lstStyle/>
        <a:p>
          <a:endParaRPr lang="en-PH"/>
        </a:p>
      </dgm:t>
    </dgm:pt>
    <dgm:pt modelId="{50B9284F-CF02-436B-98E3-208053342865}" type="sibTrans" cxnId="{559F841F-7890-4EAF-B367-40CE7F6415D5}">
      <dgm:prSet/>
      <dgm:spPr/>
      <dgm:t>
        <a:bodyPr/>
        <a:lstStyle/>
        <a:p>
          <a:endParaRPr lang="en-PH"/>
        </a:p>
      </dgm:t>
    </dgm:pt>
    <dgm:pt modelId="{C4828B07-ADC9-43E4-B179-576BC1F8C401}">
      <dgm:prSet phldrT="[Text]" phldr="0"/>
      <dgm:spPr/>
      <dgm:t>
        <a:bodyPr/>
        <a:lstStyle/>
        <a:p>
          <a:r>
            <a:rPr lang="en-US" dirty="0"/>
            <a:t>Capital is disproportionately redirected to high-severity, exotic alloy lines (Duplex, Inconel).</a:t>
          </a:r>
          <a:endParaRPr lang="en-PH" dirty="0"/>
        </a:p>
      </dgm:t>
    </dgm:pt>
    <dgm:pt modelId="{F56484AE-E42B-4C36-A637-FDFE7A300225}" type="parTrans" cxnId="{DADFD538-69F7-4BA7-B137-DE8496493EB6}">
      <dgm:prSet/>
      <dgm:spPr/>
      <dgm:t>
        <a:bodyPr/>
        <a:lstStyle/>
        <a:p>
          <a:endParaRPr lang="en-PH"/>
        </a:p>
      </dgm:t>
    </dgm:pt>
    <dgm:pt modelId="{3C1A89E5-16BD-41BB-AE33-088837BEEA16}" type="sibTrans" cxnId="{DADFD538-69F7-4BA7-B137-DE8496493EB6}">
      <dgm:prSet/>
      <dgm:spPr/>
      <dgm:t>
        <a:bodyPr/>
        <a:lstStyle/>
        <a:p>
          <a:endParaRPr lang="en-PH"/>
        </a:p>
      </dgm:t>
    </dgm:pt>
    <dgm:pt modelId="{006B8BB0-2FF2-4420-93E5-1FEE9A58054C}">
      <dgm:prSet phldrT="[Text]" phldr="0"/>
      <dgm:spPr/>
      <dgm:t>
        <a:bodyPr/>
        <a:lstStyle/>
        <a:p>
          <a:r>
            <a:rPr lang="en-US" b="1" dirty="0"/>
            <a:t>Schedule Protection</a:t>
          </a:r>
          <a:endParaRPr lang="en-PH" b="1" dirty="0"/>
        </a:p>
      </dgm:t>
    </dgm:pt>
    <dgm:pt modelId="{2791DB96-5770-4F6F-9A5B-5492E2944F8D}" type="parTrans" cxnId="{73F5C769-0790-4941-8C36-201E52E6D160}">
      <dgm:prSet/>
      <dgm:spPr/>
      <dgm:t>
        <a:bodyPr/>
        <a:lstStyle/>
        <a:p>
          <a:endParaRPr lang="en-PH"/>
        </a:p>
      </dgm:t>
    </dgm:pt>
    <dgm:pt modelId="{C71FE52F-6493-449E-BD1D-014F1D820605}" type="sibTrans" cxnId="{73F5C769-0790-4941-8C36-201E52E6D160}">
      <dgm:prSet/>
      <dgm:spPr/>
      <dgm:t>
        <a:bodyPr/>
        <a:lstStyle/>
        <a:p>
          <a:endParaRPr lang="en-PH"/>
        </a:p>
      </dgm:t>
    </dgm:pt>
    <dgm:pt modelId="{328E581C-CFCA-426A-B606-7807465F2070}">
      <dgm:prSet phldrT="[Text]" phldr="0"/>
      <dgm:spPr/>
      <dgm:t>
        <a:bodyPr/>
        <a:lstStyle/>
        <a:p>
          <a:r>
            <a:rPr lang="en-US" dirty="0"/>
            <a:t>Prevents field shortages that trigger vendor expedited shop rates and craft standby delays.</a:t>
          </a:r>
          <a:endParaRPr lang="en-PH" dirty="0"/>
        </a:p>
      </dgm:t>
    </dgm:pt>
    <dgm:pt modelId="{32759256-53B7-435D-BEAE-35F4F692D383}" type="parTrans" cxnId="{16236B77-B7DA-458F-9B62-FED1F40359C5}">
      <dgm:prSet/>
      <dgm:spPr/>
      <dgm:t>
        <a:bodyPr/>
        <a:lstStyle/>
        <a:p>
          <a:endParaRPr lang="en-PH"/>
        </a:p>
      </dgm:t>
    </dgm:pt>
    <dgm:pt modelId="{7DAB6516-FFB6-4B6F-85E3-5147C982E94D}" type="sibTrans" cxnId="{16236B77-B7DA-458F-9B62-FED1F40359C5}">
      <dgm:prSet/>
      <dgm:spPr/>
      <dgm:t>
        <a:bodyPr/>
        <a:lstStyle/>
        <a:p>
          <a:endParaRPr lang="en-PH"/>
        </a:p>
      </dgm:t>
    </dgm:pt>
    <dgm:pt modelId="{88556D0F-79D8-4FB4-9752-8FD5777BDB45}" type="pres">
      <dgm:prSet presAssocID="{89A833DA-5D25-4D49-9B52-66CF887B8FF3}" presName="linear" presStyleCnt="0">
        <dgm:presLayoutVars>
          <dgm:animLvl val="lvl"/>
          <dgm:resizeHandles val="exact"/>
        </dgm:presLayoutVars>
      </dgm:prSet>
      <dgm:spPr/>
    </dgm:pt>
    <dgm:pt modelId="{3AF0251D-AA9C-4324-99F7-B9BAFACE80A1}" type="pres">
      <dgm:prSet presAssocID="{0F9905CE-CC43-45C8-BFA2-14437A4D00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ADBB217-A807-4249-BB00-B1E86F4B745C}" type="pres">
      <dgm:prSet presAssocID="{0F9905CE-CC43-45C8-BFA2-14437A4D00D8}" presName="childText" presStyleLbl="revTx" presStyleIdx="0" presStyleCnt="3">
        <dgm:presLayoutVars>
          <dgm:bulletEnabled val="1"/>
        </dgm:presLayoutVars>
      </dgm:prSet>
      <dgm:spPr/>
    </dgm:pt>
    <dgm:pt modelId="{A665202D-6469-41F6-8134-10868EC1BAC8}" type="pres">
      <dgm:prSet presAssocID="{7030E053-31F5-4E93-AC0D-B0219B7ADE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78ACEF-3986-495E-96EA-2176D77B8D76}" type="pres">
      <dgm:prSet presAssocID="{7030E053-31F5-4E93-AC0D-B0219B7ADE52}" presName="childText" presStyleLbl="revTx" presStyleIdx="1" presStyleCnt="3">
        <dgm:presLayoutVars>
          <dgm:bulletEnabled val="1"/>
        </dgm:presLayoutVars>
      </dgm:prSet>
      <dgm:spPr/>
    </dgm:pt>
    <dgm:pt modelId="{00CC4A5F-F8D9-4304-B65A-5352C53AC90B}" type="pres">
      <dgm:prSet presAssocID="{006B8BB0-2FF2-4420-93E5-1FEE9A58054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A52FE6B-8203-48CD-971C-134CA9CE0D0E}" type="pres">
      <dgm:prSet presAssocID="{006B8BB0-2FF2-4420-93E5-1FEE9A58054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E3F5C1F-B5BC-4693-9993-BDE0CCF7AD1E}" type="presOf" srcId="{328E581C-CFCA-426A-B606-7807465F2070}" destId="{FA52FE6B-8203-48CD-971C-134CA9CE0D0E}" srcOrd="0" destOrd="0" presId="urn:microsoft.com/office/officeart/2005/8/layout/vList2"/>
    <dgm:cxn modelId="{559F841F-7890-4EAF-B367-40CE7F6415D5}" srcId="{89A833DA-5D25-4D49-9B52-66CF887B8FF3}" destId="{7030E053-31F5-4E93-AC0D-B0219B7ADE52}" srcOrd="1" destOrd="0" parTransId="{D3D3AC64-C864-4EB3-86AE-3B4597F9B7CE}" sibTransId="{50B9284F-CF02-436B-98E3-208053342865}"/>
    <dgm:cxn modelId="{0AEF8721-F052-4DD3-8FA4-831C23CB4352}" type="presOf" srcId="{C4828B07-ADC9-43E4-B179-576BC1F8C401}" destId="{2978ACEF-3986-495E-96EA-2176D77B8D76}" srcOrd="0" destOrd="0" presId="urn:microsoft.com/office/officeart/2005/8/layout/vList2"/>
    <dgm:cxn modelId="{DADFD538-69F7-4BA7-B137-DE8496493EB6}" srcId="{7030E053-31F5-4E93-AC0D-B0219B7ADE52}" destId="{C4828B07-ADC9-43E4-B179-576BC1F8C401}" srcOrd="0" destOrd="0" parTransId="{F56484AE-E42B-4C36-A637-FDFE7A300225}" sibTransId="{3C1A89E5-16BD-41BB-AE33-088837BEEA16}"/>
    <dgm:cxn modelId="{73F5C769-0790-4941-8C36-201E52E6D160}" srcId="{89A833DA-5D25-4D49-9B52-66CF887B8FF3}" destId="{006B8BB0-2FF2-4420-93E5-1FEE9A58054C}" srcOrd="2" destOrd="0" parTransId="{2791DB96-5770-4F6F-9A5B-5492E2944F8D}" sibTransId="{C71FE52F-6493-449E-BD1D-014F1D820605}"/>
    <dgm:cxn modelId="{7FCAB452-B09A-4EB0-8FE7-12B547A8EE5E}" type="presOf" srcId="{0F9905CE-CC43-45C8-BFA2-14437A4D00D8}" destId="{3AF0251D-AA9C-4324-99F7-B9BAFACE80A1}" srcOrd="0" destOrd="0" presId="urn:microsoft.com/office/officeart/2005/8/layout/vList2"/>
    <dgm:cxn modelId="{16236B77-B7DA-458F-9B62-FED1F40359C5}" srcId="{006B8BB0-2FF2-4420-93E5-1FEE9A58054C}" destId="{328E581C-CFCA-426A-B606-7807465F2070}" srcOrd="0" destOrd="0" parTransId="{32759256-53B7-435D-BEAE-35F4F692D383}" sibTransId="{7DAB6516-FFB6-4B6F-85E3-5147C982E94D}"/>
    <dgm:cxn modelId="{A905D8A1-4C80-4568-B1DB-B244E162D6AD}" srcId="{0F9905CE-CC43-45C8-BFA2-14437A4D00D8}" destId="{26EAC55A-F86E-4886-B9D4-A53BB3DEF262}" srcOrd="0" destOrd="0" parTransId="{7EB6046C-8CFD-425D-8307-879FCFF2C852}" sibTransId="{5E9B026E-AED2-4B69-8A00-27C33CBE57EE}"/>
    <dgm:cxn modelId="{C67656BF-3427-4264-A2BB-33BAD0CB2C73}" type="presOf" srcId="{006B8BB0-2FF2-4420-93E5-1FEE9A58054C}" destId="{00CC4A5F-F8D9-4304-B65A-5352C53AC90B}" srcOrd="0" destOrd="0" presId="urn:microsoft.com/office/officeart/2005/8/layout/vList2"/>
    <dgm:cxn modelId="{7EB0AFC5-F68F-4A03-9BA0-3B45DD96207B}" srcId="{89A833DA-5D25-4D49-9B52-66CF887B8FF3}" destId="{0F9905CE-CC43-45C8-BFA2-14437A4D00D8}" srcOrd="0" destOrd="0" parTransId="{729CD945-F64B-48CB-B784-6D6D9A3582B1}" sibTransId="{77EE517B-2F71-40B4-BDF8-E14C0F2AFB43}"/>
    <dgm:cxn modelId="{2C9C93F5-E514-4BF2-9D09-1D32EEE47D39}" type="presOf" srcId="{26EAC55A-F86E-4886-B9D4-A53BB3DEF262}" destId="{6ADBB217-A807-4249-BB00-B1E86F4B745C}" srcOrd="0" destOrd="0" presId="urn:microsoft.com/office/officeart/2005/8/layout/vList2"/>
    <dgm:cxn modelId="{7DF224FA-8AEC-4EE0-A0C7-3FF02B0E64C1}" type="presOf" srcId="{7030E053-31F5-4E93-AC0D-B0219B7ADE52}" destId="{A665202D-6469-41F6-8134-10868EC1BAC8}" srcOrd="0" destOrd="0" presId="urn:microsoft.com/office/officeart/2005/8/layout/vList2"/>
    <dgm:cxn modelId="{8B15D1FA-897C-4034-B3D9-F91ADAA2B0C5}" type="presOf" srcId="{89A833DA-5D25-4D49-9B52-66CF887B8FF3}" destId="{88556D0F-79D8-4FB4-9752-8FD5777BDB45}" srcOrd="0" destOrd="0" presId="urn:microsoft.com/office/officeart/2005/8/layout/vList2"/>
    <dgm:cxn modelId="{7B71C544-7053-4A9C-976A-AF5D34526C1F}" type="presParOf" srcId="{88556D0F-79D8-4FB4-9752-8FD5777BDB45}" destId="{3AF0251D-AA9C-4324-99F7-B9BAFACE80A1}" srcOrd="0" destOrd="0" presId="urn:microsoft.com/office/officeart/2005/8/layout/vList2"/>
    <dgm:cxn modelId="{908E0767-C980-434E-BF31-CBE89D298579}" type="presParOf" srcId="{88556D0F-79D8-4FB4-9752-8FD5777BDB45}" destId="{6ADBB217-A807-4249-BB00-B1E86F4B745C}" srcOrd="1" destOrd="0" presId="urn:microsoft.com/office/officeart/2005/8/layout/vList2"/>
    <dgm:cxn modelId="{3F23A890-BE29-49DE-B296-6262A022BF44}" type="presParOf" srcId="{88556D0F-79D8-4FB4-9752-8FD5777BDB45}" destId="{A665202D-6469-41F6-8134-10868EC1BAC8}" srcOrd="2" destOrd="0" presId="urn:microsoft.com/office/officeart/2005/8/layout/vList2"/>
    <dgm:cxn modelId="{59BA6BEA-82E3-4C04-A3F5-3A6808068978}" type="presParOf" srcId="{88556D0F-79D8-4FB4-9752-8FD5777BDB45}" destId="{2978ACEF-3986-495E-96EA-2176D77B8D76}" srcOrd="3" destOrd="0" presId="urn:microsoft.com/office/officeart/2005/8/layout/vList2"/>
    <dgm:cxn modelId="{F3CE39B6-C94F-4EB3-99EA-374863FE4E67}" type="presParOf" srcId="{88556D0F-79D8-4FB4-9752-8FD5777BDB45}" destId="{00CC4A5F-F8D9-4304-B65A-5352C53AC90B}" srcOrd="4" destOrd="0" presId="urn:microsoft.com/office/officeart/2005/8/layout/vList2"/>
    <dgm:cxn modelId="{9086FB78-5362-4D1A-83C0-5975A5AFA749}" type="presParOf" srcId="{88556D0F-79D8-4FB4-9752-8FD5777BDB45}" destId="{FA52FE6B-8203-48CD-971C-134CA9CE0D0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B9ECCF-1098-42FB-8E75-FC26D01F260D}" type="doc">
      <dgm:prSet loTypeId="urn:microsoft.com/office/officeart/2005/8/layout/hList3" loCatId="list" qsTypeId="urn:microsoft.com/office/officeart/2005/8/quickstyle/3d4" qsCatId="3D" csTypeId="urn:microsoft.com/office/officeart/2005/8/colors/accent2_1" csCatId="accent2" phldr="1"/>
      <dgm:spPr/>
      <dgm:t>
        <a:bodyPr/>
        <a:lstStyle/>
        <a:p>
          <a:endParaRPr lang="en-PH"/>
        </a:p>
      </dgm:t>
    </dgm:pt>
    <dgm:pt modelId="{FA4279A0-0309-4E19-B709-9CCF1C60F932}">
      <dgm:prSet phldrT="[Text]" phldr="0"/>
      <dgm:spPr/>
      <dgm:t>
        <a:bodyPr/>
        <a:lstStyle/>
        <a:p>
          <a:r>
            <a:rPr lang="en-US" b="1" dirty="0">
              <a:latin typeface="+mn-lt"/>
            </a:rPr>
            <a:t>Capital Allocation on a $20M Bulk Piping Package</a:t>
          </a:r>
          <a:endParaRPr lang="en-PH" b="1" dirty="0">
            <a:latin typeface="+mn-lt"/>
          </a:endParaRPr>
        </a:p>
      </dgm:t>
    </dgm:pt>
    <dgm:pt modelId="{B4F9E394-B0F1-42E1-9CFF-EDF8B3425310}" type="parTrans" cxnId="{5B98F661-3B31-472C-9218-B524DA0859AE}">
      <dgm:prSet/>
      <dgm:spPr/>
      <dgm:t>
        <a:bodyPr/>
        <a:lstStyle/>
        <a:p>
          <a:endParaRPr lang="en-PH">
            <a:latin typeface="+mn-lt"/>
          </a:endParaRPr>
        </a:p>
      </dgm:t>
    </dgm:pt>
    <dgm:pt modelId="{9760DBC1-FFD9-4CA7-89C5-508BD2B8613B}" type="sibTrans" cxnId="{5B98F661-3B31-472C-9218-B524DA0859AE}">
      <dgm:prSet/>
      <dgm:spPr/>
      <dgm:t>
        <a:bodyPr/>
        <a:lstStyle/>
        <a:p>
          <a:endParaRPr lang="en-PH">
            <a:latin typeface="+mn-lt"/>
          </a:endParaRPr>
        </a:p>
      </dgm:t>
    </dgm:pt>
    <dgm:pt modelId="{15288143-DA6A-4BFD-9560-1A4E43F31B33}">
      <dgm:prSet phldrT="[Text]" phldr="0"/>
      <dgm:spPr/>
      <dgm:t>
        <a:bodyPr/>
        <a:lstStyle/>
        <a:p>
          <a:r>
            <a:rPr lang="en-US" b="1" dirty="0">
              <a:latin typeface="+mn-lt"/>
            </a:rPr>
            <a:t>Conventional 15% Blanket Contingency:</a:t>
          </a:r>
        </a:p>
        <a:p>
          <a:r>
            <a:rPr lang="en-US" dirty="0">
              <a:latin typeface="+mn-lt"/>
            </a:rPr>
            <a:t>$3M allocated as a static hedge.</a:t>
          </a:r>
          <a:endParaRPr lang="en-PH" dirty="0">
            <a:latin typeface="+mn-lt"/>
          </a:endParaRPr>
        </a:p>
      </dgm:t>
    </dgm:pt>
    <dgm:pt modelId="{5A434F4D-C427-4778-BEA4-F0BCB8B1A0A5}" type="parTrans" cxnId="{E0A23FB1-1112-41CA-BD96-61D0009A8257}">
      <dgm:prSet/>
      <dgm:spPr/>
      <dgm:t>
        <a:bodyPr/>
        <a:lstStyle/>
        <a:p>
          <a:endParaRPr lang="en-PH">
            <a:latin typeface="+mn-lt"/>
          </a:endParaRPr>
        </a:p>
      </dgm:t>
    </dgm:pt>
    <dgm:pt modelId="{6E95C44E-2D85-4B96-A4A7-5DE6E50A9D69}" type="sibTrans" cxnId="{E0A23FB1-1112-41CA-BD96-61D0009A8257}">
      <dgm:prSet/>
      <dgm:spPr/>
      <dgm:t>
        <a:bodyPr/>
        <a:lstStyle/>
        <a:p>
          <a:endParaRPr lang="en-PH">
            <a:latin typeface="+mn-lt"/>
          </a:endParaRPr>
        </a:p>
      </dgm:t>
    </dgm:pt>
    <dgm:pt modelId="{A621A696-F5D2-444E-AD40-9FC34276F0A1}">
      <dgm:prSet phldrT="[Text]" phldr="0"/>
      <dgm:spPr/>
      <dgm:t>
        <a:bodyPr/>
        <a:lstStyle/>
        <a:p>
          <a:r>
            <a:rPr lang="en-US" b="1" dirty="0">
              <a:latin typeface="+mn-lt"/>
            </a:rPr>
            <a:t>ML-Adjusted Allowance (</a:t>
          </a:r>
          <a:r>
            <a:rPr lang="en-US" b="1" dirty="0">
              <a:latin typeface="+mn-lt"/>
              <a:cs typeface="Times New Roman" panose="02020603050405020304" pitchFamily="18" charset="0"/>
            </a:rPr>
            <a:t>±3.5% Uncertainty Band):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</a:p>
        <a:p>
          <a:r>
            <a:rPr lang="en-US" dirty="0">
              <a:latin typeface="+mn-lt"/>
              <a:cs typeface="Times New Roman" panose="02020603050405020304" pitchFamily="18" charset="0"/>
            </a:rPr>
            <a:t>$0.7M to $1.4M allocated dynamically per line item.</a:t>
          </a:r>
          <a:endParaRPr lang="en-PH" dirty="0">
            <a:latin typeface="+mn-lt"/>
          </a:endParaRPr>
        </a:p>
      </dgm:t>
    </dgm:pt>
    <dgm:pt modelId="{9C8FAFC1-D386-40E0-9E55-CC6B653F0190}" type="parTrans" cxnId="{1A70FB48-14F3-4067-97FA-9252BA15EB11}">
      <dgm:prSet/>
      <dgm:spPr/>
      <dgm:t>
        <a:bodyPr/>
        <a:lstStyle/>
        <a:p>
          <a:endParaRPr lang="en-PH">
            <a:latin typeface="+mn-lt"/>
          </a:endParaRPr>
        </a:p>
      </dgm:t>
    </dgm:pt>
    <dgm:pt modelId="{F9519754-F14A-4DEC-9FC8-D60663274AF1}" type="sibTrans" cxnId="{1A70FB48-14F3-4067-97FA-9252BA15EB11}">
      <dgm:prSet/>
      <dgm:spPr/>
      <dgm:t>
        <a:bodyPr/>
        <a:lstStyle/>
        <a:p>
          <a:endParaRPr lang="en-PH">
            <a:latin typeface="+mn-lt"/>
          </a:endParaRPr>
        </a:p>
      </dgm:t>
    </dgm:pt>
    <dgm:pt modelId="{C9FE810D-A77F-4BB3-B0D1-EC164C522AC7}">
      <dgm:prSet phldrT="[Text]" phldr="0"/>
      <dgm:spPr/>
      <dgm:t>
        <a:bodyPr/>
        <a:lstStyle/>
        <a:p>
          <a:r>
            <a:rPr lang="en-US" b="1" dirty="0">
              <a:latin typeface="+mn-lt"/>
            </a:rPr>
            <a:t>Net Working Capital Released:</a:t>
          </a:r>
        </a:p>
        <a:p>
          <a:r>
            <a:rPr lang="en-US" dirty="0">
              <a:latin typeface="+mn-lt"/>
            </a:rPr>
            <a:t>Frees up $1.6M to $2.3M in trapped working capital per $20M package.</a:t>
          </a:r>
          <a:endParaRPr lang="en-PH" dirty="0">
            <a:latin typeface="+mn-lt"/>
          </a:endParaRPr>
        </a:p>
      </dgm:t>
    </dgm:pt>
    <dgm:pt modelId="{AA3E6295-AA1F-467A-9DD3-869070DA5354}" type="parTrans" cxnId="{486EF7C8-7E90-42E4-9E60-B5FC87B72B27}">
      <dgm:prSet/>
      <dgm:spPr/>
      <dgm:t>
        <a:bodyPr/>
        <a:lstStyle/>
        <a:p>
          <a:endParaRPr lang="en-PH">
            <a:latin typeface="+mn-lt"/>
          </a:endParaRPr>
        </a:p>
      </dgm:t>
    </dgm:pt>
    <dgm:pt modelId="{35E10CB2-E331-4E34-B32B-3AD91D0C442F}" type="sibTrans" cxnId="{486EF7C8-7E90-42E4-9E60-B5FC87B72B27}">
      <dgm:prSet/>
      <dgm:spPr/>
      <dgm:t>
        <a:bodyPr/>
        <a:lstStyle/>
        <a:p>
          <a:endParaRPr lang="en-PH">
            <a:latin typeface="+mn-lt"/>
          </a:endParaRPr>
        </a:p>
      </dgm:t>
    </dgm:pt>
    <dgm:pt modelId="{D81E4D3E-1D25-47D3-AD45-B0F985DB4AAB}" type="pres">
      <dgm:prSet presAssocID="{F8B9ECCF-1098-42FB-8E75-FC26D01F260D}" presName="composite" presStyleCnt="0">
        <dgm:presLayoutVars>
          <dgm:chMax val="1"/>
          <dgm:dir/>
          <dgm:resizeHandles val="exact"/>
        </dgm:presLayoutVars>
      </dgm:prSet>
      <dgm:spPr/>
    </dgm:pt>
    <dgm:pt modelId="{095B9056-04FF-4396-91F7-A4FA46369F82}" type="pres">
      <dgm:prSet presAssocID="{FA4279A0-0309-4E19-B709-9CCF1C60F932}" presName="roof" presStyleLbl="dkBgShp" presStyleIdx="0" presStyleCnt="2"/>
      <dgm:spPr/>
    </dgm:pt>
    <dgm:pt modelId="{17DD5953-2D32-4ECA-93DA-0F146F47C5C1}" type="pres">
      <dgm:prSet presAssocID="{FA4279A0-0309-4E19-B709-9CCF1C60F932}" presName="pillars" presStyleCnt="0"/>
      <dgm:spPr/>
    </dgm:pt>
    <dgm:pt modelId="{96B67C34-FCFA-4F80-998E-64D63B22BB31}" type="pres">
      <dgm:prSet presAssocID="{FA4279A0-0309-4E19-B709-9CCF1C60F932}" presName="pillar1" presStyleLbl="node1" presStyleIdx="0" presStyleCnt="3">
        <dgm:presLayoutVars>
          <dgm:bulletEnabled val="1"/>
        </dgm:presLayoutVars>
      </dgm:prSet>
      <dgm:spPr/>
    </dgm:pt>
    <dgm:pt modelId="{36BDB76D-9DA1-4707-8A4E-C81604A597DE}" type="pres">
      <dgm:prSet presAssocID="{A621A696-F5D2-444E-AD40-9FC34276F0A1}" presName="pillarX" presStyleLbl="node1" presStyleIdx="1" presStyleCnt="3">
        <dgm:presLayoutVars>
          <dgm:bulletEnabled val="1"/>
        </dgm:presLayoutVars>
      </dgm:prSet>
      <dgm:spPr/>
    </dgm:pt>
    <dgm:pt modelId="{E3D274EA-AEF0-4C6B-9DD8-14CB61CB0F9D}" type="pres">
      <dgm:prSet presAssocID="{C9FE810D-A77F-4BB3-B0D1-EC164C522AC7}" presName="pillarX" presStyleLbl="node1" presStyleIdx="2" presStyleCnt="3">
        <dgm:presLayoutVars>
          <dgm:bulletEnabled val="1"/>
        </dgm:presLayoutVars>
      </dgm:prSet>
      <dgm:spPr/>
    </dgm:pt>
    <dgm:pt modelId="{5F96EA69-F42E-45F7-9B77-51956624791F}" type="pres">
      <dgm:prSet presAssocID="{FA4279A0-0309-4E19-B709-9CCF1C60F932}" presName="base" presStyleLbl="dkBgShp" presStyleIdx="1" presStyleCnt="2"/>
      <dgm:spPr/>
    </dgm:pt>
  </dgm:ptLst>
  <dgm:cxnLst>
    <dgm:cxn modelId="{ED0BDE11-1E88-4B75-9A13-125688CD1C98}" type="presOf" srcId="{A621A696-F5D2-444E-AD40-9FC34276F0A1}" destId="{36BDB76D-9DA1-4707-8A4E-C81604A597DE}" srcOrd="0" destOrd="0" presId="urn:microsoft.com/office/officeart/2005/8/layout/hList3"/>
    <dgm:cxn modelId="{29547F3C-705B-4C4C-92A2-6D9C32E302CD}" type="presOf" srcId="{FA4279A0-0309-4E19-B709-9CCF1C60F932}" destId="{095B9056-04FF-4396-91F7-A4FA46369F82}" srcOrd="0" destOrd="0" presId="urn:microsoft.com/office/officeart/2005/8/layout/hList3"/>
    <dgm:cxn modelId="{5B98F661-3B31-472C-9218-B524DA0859AE}" srcId="{F8B9ECCF-1098-42FB-8E75-FC26D01F260D}" destId="{FA4279A0-0309-4E19-B709-9CCF1C60F932}" srcOrd="0" destOrd="0" parTransId="{B4F9E394-B0F1-42E1-9CFF-EDF8B3425310}" sibTransId="{9760DBC1-FFD9-4CA7-89C5-508BD2B8613B}"/>
    <dgm:cxn modelId="{9AA4D863-BED2-4264-A93E-729619451658}" type="presOf" srcId="{F8B9ECCF-1098-42FB-8E75-FC26D01F260D}" destId="{D81E4D3E-1D25-47D3-AD45-B0F985DB4AAB}" srcOrd="0" destOrd="0" presId="urn:microsoft.com/office/officeart/2005/8/layout/hList3"/>
    <dgm:cxn modelId="{1A70FB48-14F3-4067-97FA-9252BA15EB11}" srcId="{FA4279A0-0309-4E19-B709-9CCF1C60F932}" destId="{A621A696-F5D2-444E-AD40-9FC34276F0A1}" srcOrd="1" destOrd="0" parTransId="{9C8FAFC1-D386-40E0-9E55-CC6B653F0190}" sibTransId="{F9519754-F14A-4DEC-9FC8-D60663274AF1}"/>
    <dgm:cxn modelId="{F97672AF-52A0-4F70-ABB5-0B6CB2D6E0D4}" type="presOf" srcId="{C9FE810D-A77F-4BB3-B0D1-EC164C522AC7}" destId="{E3D274EA-AEF0-4C6B-9DD8-14CB61CB0F9D}" srcOrd="0" destOrd="0" presId="urn:microsoft.com/office/officeart/2005/8/layout/hList3"/>
    <dgm:cxn modelId="{E0A23FB1-1112-41CA-BD96-61D0009A8257}" srcId="{FA4279A0-0309-4E19-B709-9CCF1C60F932}" destId="{15288143-DA6A-4BFD-9560-1A4E43F31B33}" srcOrd="0" destOrd="0" parTransId="{5A434F4D-C427-4778-BEA4-F0BCB8B1A0A5}" sibTransId="{6E95C44E-2D85-4B96-A4A7-5DE6E50A9D69}"/>
    <dgm:cxn modelId="{486EF7C8-7E90-42E4-9E60-B5FC87B72B27}" srcId="{FA4279A0-0309-4E19-B709-9CCF1C60F932}" destId="{C9FE810D-A77F-4BB3-B0D1-EC164C522AC7}" srcOrd="2" destOrd="0" parTransId="{AA3E6295-AA1F-467A-9DD3-869070DA5354}" sibTransId="{35E10CB2-E331-4E34-B32B-3AD91D0C442F}"/>
    <dgm:cxn modelId="{ECC9E3E2-A948-41E3-9C18-381924940CFD}" type="presOf" srcId="{15288143-DA6A-4BFD-9560-1A4E43F31B33}" destId="{96B67C34-FCFA-4F80-998E-64D63B22BB31}" srcOrd="0" destOrd="0" presId="urn:microsoft.com/office/officeart/2005/8/layout/hList3"/>
    <dgm:cxn modelId="{82377770-9DAF-4D4E-8331-E01B1E77AA18}" type="presParOf" srcId="{D81E4D3E-1D25-47D3-AD45-B0F985DB4AAB}" destId="{095B9056-04FF-4396-91F7-A4FA46369F82}" srcOrd="0" destOrd="0" presId="urn:microsoft.com/office/officeart/2005/8/layout/hList3"/>
    <dgm:cxn modelId="{7ADE25A8-3B59-405C-A65B-6A9CC1A499B5}" type="presParOf" srcId="{D81E4D3E-1D25-47D3-AD45-B0F985DB4AAB}" destId="{17DD5953-2D32-4ECA-93DA-0F146F47C5C1}" srcOrd="1" destOrd="0" presId="urn:microsoft.com/office/officeart/2005/8/layout/hList3"/>
    <dgm:cxn modelId="{06BE230D-998D-45F0-9989-5E10567B209E}" type="presParOf" srcId="{17DD5953-2D32-4ECA-93DA-0F146F47C5C1}" destId="{96B67C34-FCFA-4F80-998E-64D63B22BB31}" srcOrd="0" destOrd="0" presId="urn:microsoft.com/office/officeart/2005/8/layout/hList3"/>
    <dgm:cxn modelId="{7398EBA4-7C02-43DD-8F6F-B403B110E509}" type="presParOf" srcId="{17DD5953-2D32-4ECA-93DA-0F146F47C5C1}" destId="{36BDB76D-9DA1-4707-8A4E-C81604A597DE}" srcOrd="1" destOrd="0" presId="urn:microsoft.com/office/officeart/2005/8/layout/hList3"/>
    <dgm:cxn modelId="{4BC653DD-26FD-49C5-A781-5D7A8E3C4FFA}" type="presParOf" srcId="{17DD5953-2D32-4ECA-93DA-0F146F47C5C1}" destId="{E3D274EA-AEF0-4C6B-9DD8-14CB61CB0F9D}" srcOrd="2" destOrd="0" presId="urn:microsoft.com/office/officeart/2005/8/layout/hList3"/>
    <dgm:cxn modelId="{8ED90816-81A2-45F8-91B4-43C0AED8FD12}" type="presParOf" srcId="{D81E4D3E-1D25-47D3-AD45-B0F985DB4AAB}" destId="{5F96EA69-F42E-45F7-9B77-51956624791F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CEA0ED-2AA0-40B6-9679-FC0200951733}" type="doc">
      <dgm:prSet loTypeId="urn:microsoft.com/office/officeart/2008/layout/PictureStrips" loCatId="list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PH"/>
        </a:p>
      </dgm:t>
    </dgm:pt>
    <dgm:pt modelId="{0E224934-621C-4B10-BC71-99A028AA40FA}">
      <dgm:prSet phldrT="[Text]"/>
      <dgm:spPr/>
      <dgm:t>
        <a:bodyPr/>
        <a:lstStyle/>
        <a:p>
          <a:pPr algn="l">
            <a:buNone/>
          </a:pPr>
          <a:r>
            <a:rPr lang="en-PH" b="0" dirty="0"/>
            <a:t>Evaluates engineering physics (pressures, tie-ins), not human or commercial metadata.</a:t>
          </a:r>
        </a:p>
      </dgm:t>
    </dgm:pt>
    <dgm:pt modelId="{CEC8BEA0-049D-437B-9727-D088933CED30}" type="parTrans" cxnId="{BB5F09A4-DFCE-4D0E-9266-3262C0D20758}">
      <dgm:prSet/>
      <dgm:spPr/>
      <dgm:t>
        <a:bodyPr/>
        <a:lstStyle/>
        <a:p>
          <a:pPr algn="l"/>
          <a:endParaRPr lang="en-PH" b="0"/>
        </a:p>
      </dgm:t>
    </dgm:pt>
    <dgm:pt modelId="{DDB06195-7ACF-4C02-AB59-DFF60D6DC438}" type="sibTrans" cxnId="{BB5F09A4-DFCE-4D0E-9266-3262C0D20758}">
      <dgm:prSet/>
      <dgm:spPr/>
      <dgm:t>
        <a:bodyPr/>
        <a:lstStyle/>
        <a:p>
          <a:pPr algn="l"/>
          <a:endParaRPr lang="en-PH" b="0"/>
        </a:p>
      </dgm:t>
    </dgm:pt>
    <dgm:pt modelId="{AD71A374-9243-4787-AB81-49B179D703C8}">
      <dgm:prSet phldrT="[Text]"/>
      <dgm:spPr/>
      <dgm:t>
        <a:bodyPr/>
        <a:lstStyle/>
        <a:p>
          <a:pPr algn="l">
            <a:buNone/>
          </a:pPr>
          <a:r>
            <a:rPr lang="en-PH" b="0" dirty="0"/>
            <a:t>Validated using Equalized Error Distribution (Group Residual Parity) across subgroups.</a:t>
          </a:r>
        </a:p>
      </dgm:t>
    </dgm:pt>
    <dgm:pt modelId="{6BAA52DC-96E5-4C85-B91A-D9DA4867D51E}" type="parTrans" cxnId="{22B356F7-88E8-417C-97A0-6B778DA32FC2}">
      <dgm:prSet/>
      <dgm:spPr/>
      <dgm:t>
        <a:bodyPr/>
        <a:lstStyle/>
        <a:p>
          <a:pPr algn="l"/>
          <a:endParaRPr lang="en-PH" b="0"/>
        </a:p>
      </dgm:t>
    </dgm:pt>
    <dgm:pt modelId="{2FBC89CD-1E0D-4FCF-9048-8DAA96B4E7FD}" type="sibTrans" cxnId="{22B356F7-88E8-417C-97A0-6B778DA32FC2}">
      <dgm:prSet/>
      <dgm:spPr/>
      <dgm:t>
        <a:bodyPr/>
        <a:lstStyle/>
        <a:p>
          <a:pPr algn="l"/>
          <a:endParaRPr lang="en-PH" b="0"/>
        </a:p>
      </dgm:t>
    </dgm:pt>
    <dgm:pt modelId="{E313C20B-E632-4411-A1B9-B23C2E04D7E3}">
      <dgm:prSet phldrT="[Text]"/>
      <dgm:spPr/>
      <dgm:t>
        <a:bodyPr/>
        <a:lstStyle/>
        <a:p>
          <a:pPr algn="l">
            <a:buNone/>
          </a:pPr>
          <a:r>
            <a:rPr lang="en-PH" b="0" dirty="0"/>
            <a:t>Zero-centered error distributions guarantee statistical parity.</a:t>
          </a:r>
        </a:p>
      </dgm:t>
    </dgm:pt>
    <dgm:pt modelId="{D4260E7C-5DBA-45C6-9791-AC01DA490BED}" type="parTrans" cxnId="{971AA062-EBD9-449A-8921-E9CEBB1AF5C0}">
      <dgm:prSet/>
      <dgm:spPr/>
      <dgm:t>
        <a:bodyPr/>
        <a:lstStyle/>
        <a:p>
          <a:pPr algn="l"/>
          <a:endParaRPr lang="en-PH" b="0"/>
        </a:p>
      </dgm:t>
    </dgm:pt>
    <dgm:pt modelId="{FD5D6571-C123-4576-B464-9C2C53C3B3F4}" type="sibTrans" cxnId="{971AA062-EBD9-449A-8921-E9CEBB1AF5C0}">
      <dgm:prSet/>
      <dgm:spPr/>
      <dgm:t>
        <a:bodyPr/>
        <a:lstStyle/>
        <a:p>
          <a:pPr algn="l"/>
          <a:endParaRPr lang="en-PH" b="0"/>
        </a:p>
      </dgm:t>
    </dgm:pt>
    <dgm:pt modelId="{09C5E76E-478E-4380-8F01-B138F4DACC21}">
      <dgm:prSet phldrT="[Text]"/>
      <dgm:spPr/>
      <dgm:t>
        <a:bodyPr/>
        <a:lstStyle/>
        <a:p>
          <a:pPr algn="l">
            <a:buNone/>
          </a:pPr>
          <a:r>
            <a:rPr lang="en-PH" b="0" dirty="0"/>
            <a:t>The algorithm does not penalize outsourced contractors or regional suppliers, ensuring completely equitable bid allocations.</a:t>
          </a:r>
        </a:p>
      </dgm:t>
    </dgm:pt>
    <dgm:pt modelId="{EDBB0030-CDC5-4A3D-93A9-F0486E2E4EAF}" type="parTrans" cxnId="{327EDE52-03A8-43D4-939E-13E3D938603B}">
      <dgm:prSet/>
      <dgm:spPr/>
      <dgm:t>
        <a:bodyPr/>
        <a:lstStyle/>
        <a:p>
          <a:pPr algn="l"/>
          <a:endParaRPr lang="en-PH" b="0"/>
        </a:p>
      </dgm:t>
    </dgm:pt>
    <dgm:pt modelId="{B3CD85C3-1BE3-4E90-91CF-FA1E7CFB088D}" type="sibTrans" cxnId="{327EDE52-03A8-43D4-939E-13E3D938603B}">
      <dgm:prSet/>
      <dgm:spPr/>
      <dgm:t>
        <a:bodyPr/>
        <a:lstStyle/>
        <a:p>
          <a:pPr algn="l"/>
          <a:endParaRPr lang="en-PH" b="0"/>
        </a:p>
      </dgm:t>
    </dgm:pt>
    <dgm:pt modelId="{68B5D85F-DBCC-4DF8-A2BB-72E762FEE416}" type="pres">
      <dgm:prSet presAssocID="{57CEA0ED-2AA0-40B6-9679-FC0200951733}" presName="Name0" presStyleCnt="0">
        <dgm:presLayoutVars>
          <dgm:dir/>
          <dgm:resizeHandles val="exact"/>
        </dgm:presLayoutVars>
      </dgm:prSet>
      <dgm:spPr/>
    </dgm:pt>
    <dgm:pt modelId="{E2707044-C897-4ADB-8793-46C64B930F85}" type="pres">
      <dgm:prSet presAssocID="{0E224934-621C-4B10-BC71-99A028AA40FA}" presName="composite" presStyleCnt="0"/>
      <dgm:spPr/>
    </dgm:pt>
    <dgm:pt modelId="{04CC522F-FCBC-44AE-B8F1-AA4C25EBC4A5}" type="pres">
      <dgm:prSet presAssocID="{0E224934-621C-4B10-BC71-99A028AA40FA}" presName="rect1" presStyleLbl="trAlignAcc1" presStyleIdx="0" presStyleCnt="4">
        <dgm:presLayoutVars>
          <dgm:bulletEnabled val="1"/>
        </dgm:presLayoutVars>
      </dgm:prSet>
      <dgm:spPr/>
    </dgm:pt>
    <dgm:pt modelId="{135C4862-4114-4AF9-ABE0-FED5CBB11792}" type="pres">
      <dgm:prSet presAssocID="{0E224934-621C-4B10-BC71-99A028AA40FA}" presName="rect2" presStyleLbl="fgImgPlac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C5440119-2519-4825-8CC9-84C6B6DB68F4}" type="pres">
      <dgm:prSet presAssocID="{DDB06195-7ACF-4C02-AB59-DFF60D6DC438}" presName="sibTrans" presStyleCnt="0"/>
      <dgm:spPr/>
    </dgm:pt>
    <dgm:pt modelId="{7E3AA1CB-3EB6-4C9A-96C5-4A7DCE543FB2}" type="pres">
      <dgm:prSet presAssocID="{AD71A374-9243-4787-AB81-49B179D703C8}" presName="composite" presStyleCnt="0"/>
      <dgm:spPr/>
    </dgm:pt>
    <dgm:pt modelId="{BD8738AD-14F1-4EBF-A352-B5FDAA8A69FB}" type="pres">
      <dgm:prSet presAssocID="{AD71A374-9243-4787-AB81-49B179D703C8}" presName="rect1" presStyleLbl="trAlignAcc1" presStyleIdx="1" presStyleCnt="4">
        <dgm:presLayoutVars>
          <dgm:bulletEnabled val="1"/>
        </dgm:presLayoutVars>
      </dgm:prSet>
      <dgm:spPr/>
    </dgm:pt>
    <dgm:pt modelId="{7A4983E2-D20E-4ACB-B449-459C720596C9}" type="pres">
      <dgm:prSet presAssocID="{AD71A374-9243-4787-AB81-49B179D703C8}" presName="rect2" presStyleLbl="fgImgPlac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9B2AA346-6911-4880-AB85-958A83CACB39}" type="pres">
      <dgm:prSet presAssocID="{2FBC89CD-1E0D-4FCF-9048-8DAA96B4E7FD}" presName="sibTrans" presStyleCnt="0"/>
      <dgm:spPr/>
    </dgm:pt>
    <dgm:pt modelId="{0AEBD29D-16AD-463F-9621-585C37430008}" type="pres">
      <dgm:prSet presAssocID="{E313C20B-E632-4411-A1B9-B23C2E04D7E3}" presName="composite" presStyleCnt="0"/>
      <dgm:spPr/>
    </dgm:pt>
    <dgm:pt modelId="{4F6276ED-D144-46EF-8DFF-8C132CD730EF}" type="pres">
      <dgm:prSet presAssocID="{E313C20B-E632-4411-A1B9-B23C2E04D7E3}" presName="rect1" presStyleLbl="trAlignAcc1" presStyleIdx="2" presStyleCnt="4">
        <dgm:presLayoutVars>
          <dgm:bulletEnabled val="1"/>
        </dgm:presLayoutVars>
      </dgm:prSet>
      <dgm:spPr/>
    </dgm:pt>
    <dgm:pt modelId="{6D8BF7C1-76EF-4E50-A9F2-C27DF6D076D2}" type="pres">
      <dgm:prSet presAssocID="{E313C20B-E632-4411-A1B9-B23C2E04D7E3}" presName="rect2" presStyleLbl="fgImgPlac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04B6AF4A-FF0A-4ED6-B03A-FBD9DB6C8430}" type="pres">
      <dgm:prSet presAssocID="{FD5D6571-C123-4576-B464-9C2C53C3B3F4}" presName="sibTrans" presStyleCnt="0"/>
      <dgm:spPr/>
    </dgm:pt>
    <dgm:pt modelId="{4F5CF752-C4BC-4E2A-8C4B-6116BD8D384D}" type="pres">
      <dgm:prSet presAssocID="{09C5E76E-478E-4380-8F01-B138F4DACC21}" presName="composite" presStyleCnt="0"/>
      <dgm:spPr/>
    </dgm:pt>
    <dgm:pt modelId="{0329F470-5DF3-405E-B7BF-86F8B5E0B61D}" type="pres">
      <dgm:prSet presAssocID="{09C5E76E-478E-4380-8F01-B138F4DACC21}" presName="rect1" presStyleLbl="trAlignAcc1" presStyleIdx="3" presStyleCnt="4">
        <dgm:presLayoutVars>
          <dgm:bulletEnabled val="1"/>
        </dgm:presLayoutVars>
      </dgm:prSet>
      <dgm:spPr/>
    </dgm:pt>
    <dgm:pt modelId="{D66827F2-92C6-4D7E-86B7-9EF4B84852FC}" type="pres">
      <dgm:prSet presAssocID="{09C5E76E-478E-4380-8F01-B138F4DACC21}" presName="rect2" presStyleLbl="fgImgPlac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</dgm:ptLst>
  <dgm:cxnLst>
    <dgm:cxn modelId="{971AA062-EBD9-449A-8921-E9CEBB1AF5C0}" srcId="{57CEA0ED-2AA0-40B6-9679-FC0200951733}" destId="{E313C20B-E632-4411-A1B9-B23C2E04D7E3}" srcOrd="2" destOrd="0" parTransId="{D4260E7C-5DBA-45C6-9791-AC01DA490BED}" sibTransId="{FD5D6571-C123-4576-B464-9C2C53C3B3F4}"/>
    <dgm:cxn modelId="{3223B26B-A44C-47F4-A98D-39CC4E54E47C}" type="presOf" srcId="{57CEA0ED-2AA0-40B6-9679-FC0200951733}" destId="{68B5D85F-DBCC-4DF8-A2BB-72E762FEE416}" srcOrd="0" destOrd="0" presId="urn:microsoft.com/office/officeart/2008/layout/PictureStrips"/>
    <dgm:cxn modelId="{327EDE52-03A8-43D4-939E-13E3D938603B}" srcId="{57CEA0ED-2AA0-40B6-9679-FC0200951733}" destId="{09C5E76E-478E-4380-8F01-B138F4DACC21}" srcOrd="3" destOrd="0" parTransId="{EDBB0030-CDC5-4A3D-93A9-F0486E2E4EAF}" sibTransId="{B3CD85C3-1BE3-4E90-91CF-FA1E7CFB088D}"/>
    <dgm:cxn modelId="{2A9D299B-EFB1-4B33-85E4-FC6B5F608A2A}" type="presOf" srcId="{E313C20B-E632-4411-A1B9-B23C2E04D7E3}" destId="{4F6276ED-D144-46EF-8DFF-8C132CD730EF}" srcOrd="0" destOrd="0" presId="urn:microsoft.com/office/officeart/2008/layout/PictureStrips"/>
    <dgm:cxn modelId="{BB5F09A4-DFCE-4D0E-9266-3262C0D20758}" srcId="{57CEA0ED-2AA0-40B6-9679-FC0200951733}" destId="{0E224934-621C-4B10-BC71-99A028AA40FA}" srcOrd="0" destOrd="0" parTransId="{CEC8BEA0-049D-437B-9727-D088933CED30}" sibTransId="{DDB06195-7ACF-4C02-AB59-DFF60D6DC438}"/>
    <dgm:cxn modelId="{98D064C3-2DC1-463A-82C1-24FE6296DDF5}" type="presOf" srcId="{0E224934-621C-4B10-BC71-99A028AA40FA}" destId="{04CC522F-FCBC-44AE-B8F1-AA4C25EBC4A5}" srcOrd="0" destOrd="0" presId="urn:microsoft.com/office/officeart/2008/layout/PictureStrips"/>
    <dgm:cxn modelId="{8CB55ED8-3CF8-42D9-B3B6-BE8E4AFF1328}" type="presOf" srcId="{AD71A374-9243-4787-AB81-49B179D703C8}" destId="{BD8738AD-14F1-4EBF-A352-B5FDAA8A69FB}" srcOrd="0" destOrd="0" presId="urn:microsoft.com/office/officeart/2008/layout/PictureStrips"/>
    <dgm:cxn modelId="{9A7936E6-FD95-42F8-A484-A59FA13C407F}" type="presOf" srcId="{09C5E76E-478E-4380-8F01-B138F4DACC21}" destId="{0329F470-5DF3-405E-B7BF-86F8B5E0B61D}" srcOrd="0" destOrd="0" presId="urn:microsoft.com/office/officeart/2008/layout/PictureStrips"/>
    <dgm:cxn modelId="{22B356F7-88E8-417C-97A0-6B778DA32FC2}" srcId="{57CEA0ED-2AA0-40B6-9679-FC0200951733}" destId="{AD71A374-9243-4787-AB81-49B179D703C8}" srcOrd="1" destOrd="0" parTransId="{6BAA52DC-96E5-4C85-B91A-D9DA4867D51E}" sibTransId="{2FBC89CD-1E0D-4FCF-9048-8DAA96B4E7FD}"/>
    <dgm:cxn modelId="{708AAB95-02BA-412F-B458-CD04BCE0A341}" type="presParOf" srcId="{68B5D85F-DBCC-4DF8-A2BB-72E762FEE416}" destId="{E2707044-C897-4ADB-8793-46C64B930F85}" srcOrd="0" destOrd="0" presId="urn:microsoft.com/office/officeart/2008/layout/PictureStrips"/>
    <dgm:cxn modelId="{2F37CD89-95C3-4945-9CD1-46E391C1E7A9}" type="presParOf" srcId="{E2707044-C897-4ADB-8793-46C64B930F85}" destId="{04CC522F-FCBC-44AE-B8F1-AA4C25EBC4A5}" srcOrd="0" destOrd="0" presId="urn:microsoft.com/office/officeart/2008/layout/PictureStrips"/>
    <dgm:cxn modelId="{EC84B9D9-95B3-45EA-9BAD-AC0EB3768BD4}" type="presParOf" srcId="{E2707044-C897-4ADB-8793-46C64B930F85}" destId="{135C4862-4114-4AF9-ABE0-FED5CBB11792}" srcOrd="1" destOrd="0" presId="urn:microsoft.com/office/officeart/2008/layout/PictureStrips"/>
    <dgm:cxn modelId="{8D6FAAA7-6570-461F-997D-57897CDD59ED}" type="presParOf" srcId="{68B5D85F-DBCC-4DF8-A2BB-72E762FEE416}" destId="{C5440119-2519-4825-8CC9-84C6B6DB68F4}" srcOrd="1" destOrd="0" presId="urn:microsoft.com/office/officeart/2008/layout/PictureStrips"/>
    <dgm:cxn modelId="{19728B89-3EFD-49AA-8C81-DB1D83EA386F}" type="presParOf" srcId="{68B5D85F-DBCC-4DF8-A2BB-72E762FEE416}" destId="{7E3AA1CB-3EB6-4C9A-96C5-4A7DCE543FB2}" srcOrd="2" destOrd="0" presId="urn:microsoft.com/office/officeart/2008/layout/PictureStrips"/>
    <dgm:cxn modelId="{42A48567-F1CD-48E6-B5C6-A0B0C7CB65DA}" type="presParOf" srcId="{7E3AA1CB-3EB6-4C9A-96C5-4A7DCE543FB2}" destId="{BD8738AD-14F1-4EBF-A352-B5FDAA8A69FB}" srcOrd="0" destOrd="0" presId="urn:microsoft.com/office/officeart/2008/layout/PictureStrips"/>
    <dgm:cxn modelId="{23EEB63F-2344-4020-A578-B50F4547008C}" type="presParOf" srcId="{7E3AA1CB-3EB6-4C9A-96C5-4A7DCE543FB2}" destId="{7A4983E2-D20E-4ACB-B449-459C720596C9}" srcOrd="1" destOrd="0" presId="urn:microsoft.com/office/officeart/2008/layout/PictureStrips"/>
    <dgm:cxn modelId="{1A8ADCA7-B458-4BC3-9DEF-93CB42DC8610}" type="presParOf" srcId="{68B5D85F-DBCC-4DF8-A2BB-72E762FEE416}" destId="{9B2AA346-6911-4880-AB85-958A83CACB39}" srcOrd="3" destOrd="0" presId="urn:microsoft.com/office/officeart/2008/layout/PictureStrips"/>
    <dgm:cxn modelId="{8A3BCE90-0BAF-45E1-ABCC-66E8987F334D}" type="presParOf" srcId="{68B5D85F-DBCC-4DF8-A2BB-72E762FEE416}" destId="{0AEBD29D-16AD-463F-9621-585C37430008}" srcOrd="4" destOrd="0" presId="urn:microsoft.com/office/officeart/2008/layout/PictureStrips"/>
    <dgm:cxn modelId="{D5CE06F6-6DF8-47E6-9449-83F0ABD6FF1E}" type="presParOf" srcId="{0AEBD29D-16AD-463F-9621-585C37430008}" destId="{4F6276ED-D144-46EF-8DFF-8C132CD730EF}" srcOrd="0" destOrd="0" presId="urn:microsoft.com/office/officeart/2008/layout/PictureStrips"/>
    <dgm:cxn modelId="{205E3CAE-A049-46F5-8CF1-400A585B72F8}" type="presParOf" srcId="{0AEBD29D-16AD-463F-9621-585C37430008}" destId="{6D8BF7C1-76EF-4E50-A9F2-C27DF6D076D2}" srcOrd="1" destOrd="0" presId="urn:microsoft.com/office/officeart/2008/layout/PictureStrips"/>
    <dgm:cxn modelId="{1342C30B-7B47-49CF-921A-DBFFD36404E4}" type="presParOf" srcId="{68B5D85F-DBCC-4DF8-A2BB-72E762FEE416}" destId="{04B6AF4A-FF0A-4ED6-B03A-FBD9DB6C8430}" srcOrd="5" destOrd="0" presId="urn:microsoft.com/office/officeart/2008/layout/PictureStrips"/>
    <dgm:cxn modelId="{CC6063E2-C0B8-40F1-B14A-80A76D511046}" type="presParOf" srcId="{68B5D85F-DBCC-4DF8-A2BB-72E762FEE416}" destId="{4F5CF752-C4BC-4E2A-8C4B-6116BD8D384D}" srcOrd="6" destOrd="0" presId="urn:microsoft.com/office/officeart/2008/layout/PictureStrips"/>
    <dgm:cxn modelId="{54C757A3-02C6-496B-A994-8181337AA350}" type="presParOf" srcId="{4F5CF752-C4BC-4E2A-8C4B-6116BD8D384D}" destId="{0329F470-5DF3-405E-B7BF-86F8B5E0B61D}" srcOrd="0" destOrd="0" presId="urn:microsoft.com/office/officeart/2008/layout/PictureStrips"/>
    <dgm:cxn modelId="{DD38A21A-39B3-4D78-9E4B-F4B2B0F88A22}" type="presParOf" srcId="{4F5CF752-C4BC-4E2A-8C4B-6116BD8D384D}" destId="{D66827F2-92C6-4D7E-86B7-9EF4B84852FC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A281C-4AAF-4370-885C-428F6478C81C}">
      <dsp:nvSpPr>
        <dsp:cNvPr id="0" name=""/>
        <dsp:cNvSpPr/>
      </dsp:nvSpPr>
      <dsp:spPr>
        <a:xfrm>
          <a:off x="3155" y="87377"/>
          <a:ext cx="3076277" cy="7612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The Reality of Revamps</a:t>
          </a:r>
          <a:endParaRPr lang="en-PH" sz="2100" b="1" kern="1200" dirty="0"/>
        </a:p>
      </dsp:txBody>
      <dsp:txXfrm>
        <a:off x="3155" y="87377"/>
        <a:ext cx="3076277" cy="761227"/>
      </dsp:txXfrm>
    </dsp:sp>
    <dsp:sp modelId="{9F312C96-11A9-4CCD-AF7F-49EDCF11D387}">
      <dsp:nvSpPr>
        <dsp:cNvPr id="0" name=""/>
        <dsp:cNvSpPr/>
      </dsp:nvSpPr>
      <dsp:spPr>
        <a:xfrm>
          <a:off x="3155" y="848605"/>
          <a:ext cx="3076277" cy="321415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PH" sz="2100" kern="1200" dirty="0"/>
            <a:t>Modifying active, aging plants presents massive logistical hurdles compared to greenfield projects.</a:t>
          </a:r>
        </a:p>
      </dsp:txBody>
      <dsp:txXfrm>
        <a:off x="3155" y="848605"/>
        <a:ext cx="3076277" cy="3214159"/>
      </dsp:txXfrm>
    </dsp:sp>
    <dsp:sp modelId="{2EDE27A3-7764-4895-B775-0EA2E091BB15}">
      <dsp:nvSpPr>
        <dsp:cNvPr id="0" name=""/>
        <dsp:cNvSpPr/>
      </dsp:nvSpPr>
      <dsp:spPr>
        <a:xfrm>
          <a:off x="3510111" y="87377"/>
          <a:ext cx="3076277" cy="7612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100" b="1" kern="1200" dirty="0"/>
            <a:t>The Constraint Triangle</a:t>
          </a:r>
        </a:p>
      </dsp:txBody>
      <dsp:txXfrm>
        <a:off x="3510111" y="87377"/>
        <a:ext cx="3076277" cy="761227"/>
      </dsp:txXfrm>
    </dsp:sp>
    <dsp:sp modelId="{59702293-3E02-4322-8033-4D46F33AD307}">
      <dsp:nvSpPr>
        <dsp:cNvPr id="0" name=""/>
        <dsp:cNvSpPr/>
      </dsp:nvSpPr>
      <dsp:spPr>
        <a:xfrm>
          <a:off x="3510111" y="848605"/>
          <a:ext cx="3076277" cy="321415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2100" kern="1200" dirty="0"/>
            <a:t>Incomplete legacy blueprints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2100" kern="1200"/>
            <a:t>Tight physical and spatial constraints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2100" kern="1200"/>
            <a:t>High tie-in density to operating headers</a:t>
          </a:r>
        </a:p>
      </dsp:txBody>
      <dsp:txXfrm>
        <a:off x="3510111" y="848605"/>
        <a:ext cx="3076277" cy="3214159"/>
      </dsp:txXfrm>
    </dsp:sp>
    <dsp:sp modelId="{1637445C-3055-4145-A26C-E157B08487B2}">
      <dsp:nvSpPr>
        <dsp:cNvPr id="0" name=""/>
        <dsp:cNvSpPr/>
      </dsp:nvSpPr>
      <dsp:spPr>
        <a:xfrm>
          <a:off x="7017067" y="87377"/>
          <a:ext cx="3076277" cy="7612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100" b="1" kern="1200" dirty="0"/>
            <a:t>The Business Impact</a:t>
          </a:r>
        </a:p>
      </dsp:txBody>
      <dsp:txXfrm>
        <a:off x="7017067" y="87377"/>
        <a:ext cx="3076277" cy="761227"/>
      </dsp:txXfrm>
    </dsp:sp>
    <dsp:sp modelId="{24385871-94EA-4126-B7B4-4B24D257B9C7}">
      <dsp:nvSpPr>
        <dsp:cNvPr id="0" name=""/>
        <dsp:cNvSpPr/>
      </dsp:nvSpPr>
      <dsp:spPr>
        <a:xfrm>
          <a:off x="7017067" y="848605"/>
          <a:ext cx="3076277" cy="321415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PH" sz="2100" kern="1200" dirty="0"/>
            <a:t>Initial Material Take-Off (MTO) estimates drawn from early Front-End Engineering Design (FEED) rarely match physical reality, leading to severe volume growth as designs mature.</a:t>
          </a:r>
        </a:p>
      </dsp:txBody>
      <dsp:txXfrm>
        <a:off x="7017067" y="848605"/>
        <a:ext cx="3076277" cy="32141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A6D0E-73D6-456C-8CFF-E599B740D714}">
      <dsp:nvSpPr>
        <dsp:cNvPr id="0" name=""/>
        <dsp:cNvSpPr/>
      </dsp:nvSpPr>
      <dsp:spPr>
        <a:xfrm>
          <a:off x="1130650" y="3633"/>
          <a:ext cx="3604475" cy="2690664"/>
        </a:xfrm>
        <a:prstGeom prst="round2SameRect">
          <a:avLst>
            <a:gd name="adj1" fmla="val 8000"/>
            <a:gd name="adj2" fmla="val 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68580" rIns="22860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PH" sz="1800" b="1" kern="1200" dirty="0"/>
            <a:t>Model:</a:t>
          </a:r>
          <a:r>
            <a:rPr lang="en-PH" sz="1800" kern="1200" dirty="0"/>
            <a:t> Champion </a:t>
          </a:r>
          <a:r>
            <a:rPr lang="en-PH" sz="1800" kern="1200" dirty="0" err="1"/>
            <a:t>LightGBM</a:t>
          </a:r>
          <a:r>
            <a:rPr lang="en-PH" sz="1800" kern="1200" dirty="0"/>
            <a:t> Classifier</a:t>
          </a:r>
          <a:endParaRPr lang="en-PH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PH" sz="1800" b="1" kern="1200" dirty="0"/>
            <a:t>Result:</a:t>
          </a:r>
          <a:r>
            <a:rPr lang="en-PH" sz="1800" kern="1200" dirty="0"/>
            <a:t> Achieves a 97.41% PR-AUC score.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PH" sz="1800" b="1" kern="1200"/>
            <a:t>Value:</a:t>
          </a:r>
          <a:r>
            <a:rPr lang="en-PH" sz="1800" kern="1200"/>
            <a:t> Highly sensitive to predicting "danger zones" without triggering excessive false alarms.</a:t>
          </a:r>
        </a:p>
      </dsp:txBody>
      <dsp:txXfrm>
        <a:off x="1193695" y="66678"/>
        <a:ext cx="3478385" cy="2627619"/>
      </dsp:txXfrm>
    </dsp:sp>
    <dsp:sp modelId="{37E91582-8D6E-4D24-833C-A6ABD769D8FA}">
      <dsp:nvSpPr>
        <dsp:cNvPr id="0" name=""/>
        <dsp:cNvSpPr/>
      </dsp:nvSpPr>
      <dsp:spPr>
        <a:xfrm>
          <a:off x="1130650" y="2694298"/>
          <a:ext cx="3604475" cy="11569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0" rIns="22860" bIns="0" numCol="1" spcCol="1270" rtlCol="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+mn-lt"/>
              <a:ea typeface="+mn-ea"/>
              <a:cs typeface="+mn-cs"/>
            </a:rPr>
            <a:t>Task 1: Classification</a:t>
          </a:r>
          <a:r>
            <a:rPr lang="en-US" sz="1800" b="1" kern="1200" dirty="0"/>
            <a:t> (Risk Flagging)</a:t>
          </a:r>
          <a:endParaRPr lang="en-PH" sz="1800" b="1" kern="1200" dirty="0"/>
        </a:p>
      </dsp:txBody>
      <dsp:txXfrm>
        <a:off x="1130650" y="2694298"/>
        <a:ext cx="2538363" cy="1156985"/>
      </dsp:txXfrm>
    </dsp:sp>
    <dsp:sp modelId="{9ACBF42D-7F1D-4924-A68F-2A57FE9B8C0D}">
      <dsp:nvSpPr>
        <dsp:cNvPr id="0" name=""/>
        <dsp:cNvSpPr/>
      </dsp:nvSpPr>
      <dsp:spPr>
        <a:xfrm>
          <a:off x="3770978" y="2878075"/>
          <a:ext cx="1261566" cy="126156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92786-EA25-4E91-9AD9-81732E088059}">
      <dsp:nvSpPr>
        <dsp:cNvPr id="0" name=""/>
        <dsp:cNvSpPr/>
      </dsp:nvSpPr>
      <dsp:spPr>
        <a:xfrm>
          <a:off x="5345090" y="3633"/>
          <a:ext cx="3604475" cy="2690664"/>
        </a:xfrm>
        <a:prstGeom prst="round2SameRect">
          <a:avLst>
            <a:gd name="adj1" fmla="val 8000"/>
            <a:gd name="adj2" fmla="val 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68580" rIns="22860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800" b="1" kern="1200"/>
            <a:t>Model:</a:t>
          </a:r>
          <a:r>
            <a:rPr lang="en-PH" sz="1800" kern="1200"/>
            <a:t> Champion LightGBM Regressor</a:t>
          </a:r>
          <a:endParaRPr lang="en-PH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800" b="1" kern="1200"/>
            <a:t>Result:</a:t>
          </a:r>
          <a:r>
            <a:rPr lang="en-PH" sz="1800" kern="1200"/>
            <a:t> Restricts residual variance to ~3.5% (RMSE).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800" b="1" kern="1200" dirty="0"/>
            <a:t>Value:</a:t>
          </a:r>
          <a:r>
            <a:rPr lang="en-PH" sz="1800" kern="1200" dirty="0"/>
            <a:t> Provides a mathematically proven uncertainty band, drastically outperforming standard linear estimating techniques.</a:t>
          </a:r>
        </a:p>
      </dsp:txBody>
      <dsp:txXfrm>
        <a:off x="5408135" y="66678"/>
        <a:ext cx="3478385" cy="2627619"/>
      </dsp:txXfrm>
    </dsp:sp>
    <dsp:sp modelId="{B565E6D2-8C8F-45A6-BD70-12F1A842EA19}">
      <dsp:nvSpPr>
        <dsp:cNvPr id="0" name=""/>
        <dsp:cNvSpPr/>
      </dsp:nvSpPr>
      <dsp:spPr>
        <a:xfrm>
          <a:off x="5345090" y="2694298"/>
          <a:ext cx="3604475" cy="11569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0" rIns="22860" bIns="0" numCol="1" spcCol="1270" rtlCol="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Task 2: Regression (</a:t>
          </a:r>
          <a:r>
            <a:rPr lang="en-US" sz="1800" b="1" kern="1200" dirty="0">
              <a:latin typeface="+mn-lt"/>
              <a:ea typeface="+mn-ea"/>
              <a:cs typeface="+mn-cs"/>
            </a:rPr>
            <a:t>Growth</a:t>
          </a:r>
          <a:r>
            <a:rPr lang="en-US" sz="1800" b="1" kern="1200" dirty="0"/>
            <a:t> Quantification)</a:t>
          </a:r>
          <a:endParaRPr lang="en-PH" sz="1800" b="1" kern="1200" dirty="0"/>
        </a:p>
      </dsp:txBody>
      <dsp:txXfrm>
        <a:off x="5345090" y="2694298"/>
        <a:ext cx="2538363" cy="1156985"/>
      </dsp:txXfrm>
    </dsp:sp>
    <dsp:sp modelId="{F2A20F59-277F-4F32-ADCA-996DDB48C6AF}">
      <dsp:nvSpPr>
        <dsp:cNvPr id="0" name=""/>
        <dsp:cNvSpPr/>
      </dsp:nvSpPr>
      <dsp:spPr>
        <a:xfrm>
          <a:off x="7985417" y="2878075"/>
          <a:ext cx="1261566" cy="126156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0251D-AA9C-4324-99F7-B9BAFACE80A1}">
      <dsp:nvSpPr>
        <dsp:cNvPr id="0" name=""/>
        <dsp:cNvSpPr/>
      </dsp:nvSpPr>
      <dsp:spPr>
        <a:xfrm>
          <a:off x="0" y="182221"/>
          <a:ext cx="576638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Sharper Bid Competitiveness</a:t>
          </a:r>
          <a:endParaRPr lang="en-PH" sz="2200" b="1" kern="1200" dirty="0"/>
        </a:p>
      </dsp:txBody>
      <dsp:txXfrm>
        <a:off x="25759" y="207980"/>
        <a:ext cx="5714865" cy="476152"/>
      </dsp:txXfrm>
    </dsp:sp>
    <dsp:sp modelId="{6ADBB217-A807-4249-BB00-B1E86F4B745C}">
      <dsp:nvSpPr>
        <dsp:cNvPr id="0" name=""/>
        <dsp:cNvSpPr/>
      </dsp:nvSpPr>
      <dsp:spPr>
        <a:xfrm>
          <a:off x="0" y="709892"/>
          <a:ext cx="5766383" cy="774180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08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Unnecessary contingency padding on low-complexity utility circuits (e.g., carbon steel, 100% laser-scanned) is pruned, allowing linear, more competitive LSTK bids.</a:t>
          </a:r>
          <a:endParaRPr lang="en-PH" sz="1700" kern="1200" dirty="0"/>
        </a:p>
      </dsp:txBody>
      <dsp:txXfrm>
        <a:off x="0" y="709892"/>
        <a:ext cx="5766383" cy="774180"/>
      </dsp:txXfrm>
    </dsp:sp>
    <dsp:sp modelId="{A665202D-6469-41F6-8134-10868EC1BAC8}">
      <dsp:nvSpPr>
        <dsp:cNvPr id="0" name=""/>
        <dsp:cNvSpPr/>
      </dsp:nvSpPr>
      <dsp:spPr>
        <a:xfrm>
          <a:off x="0" y="1484072"/>
          <a:ext cx="576638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Targeted Protection for Critical Paths</a:t>
          </a:r>
          <a:endParaRPr lang="en-PH" sz="2200" b="1" kern="1200" dirty="0"/>
        </a:p>
      </dsp:txBody>
      <dsp:txXfrm>
        <a:off x="25759" y="1509831"/>
        <a:ext cx="5714865" cy="476152"/>
      </dsp:txXfrm>
    </dsp:sp>
    <dsp:sp modelId="{2978ACEF-3986-495E-96EA-2176D77B8D76}">
      <dsp:nvSpPr>
        <dsp:cNvPr id="0" name=""/>
        <dsp:cNvSpPr/>
      </dsp:nvSpPr>
      <dsp:spPr>
        <a:xfrm>
          <a:off x="0" y="2011742"/>
          <a:ext cx="5766383" cy="53509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08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Capital is disproportionately redirected to high-severity, exotic alloy lines (Duplex, Inconel).</a:t>
          </a:r>
          <a:endParaRPr lang="en-PH" sz="1700" kern="1200" dirty="0"/>
        </a:p>
      </dsp:txBody>
      <dsp:txXfrm>
        <a:off x="0" y="2011742"/>
        <a:ext cx="5766383" cy="535095"/>
      </dsp:txXfrm>
    </dsp:sp>
    <dsp:sp modelId="{00CC4A5F-F8D9-4304-B65A-5352C53AC90B}">
      <dsp:nvSpPr>
        <dsp:cNvPr id="0" name=""/>
        <dsp:cNvSpPr/>
      </dsp:nvSpPr>
      <dsp:spPr>
        <a:xfrm>
          <a:off x="0" y="2546837"/>
          <a:ext cx="576638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Schedule Protection</a:t>
          </a:r>
          <a:endParaRPr lang="en-PH" sz="2200" b="1" kern="1200" dirty="0"/>
        </a:p>
      </dsp:txBody>
      <dsp:txXfrm>
        <a:off x="25759" y="2572596"/>
        <a:ext cx="5714865" cy="476152"/>
      </dsp:txXfrm>
    </dsp:sp>
    <dsp:sp modelId="{FA52FE6B-8203-48CD-971C-134CA9CE0D0E}">
      <dsp:nvSpPr>
        <dsp:cNvPr id="0" name=""/>
        <dsp:cNvSpPr/>
      </dsp:nvSpPr>
      <dsp:spPr>
        <a:xfrm>
          <a:off x="0" y="3074507"/>
          <a:ext cx="5766383" cy="53509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08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Prevents field shortages that trigger vendor expedited shop rates and craft standby delays.</a:t>
          </a:r>
          <a:endParaRPr lang="en-PH" sz="1700" kern="1200" dirty="0"/>
        </a:p>
      </dsp:txBody>
      <dsp:txXfrm>
        <a:off x="0" y="3074507"/>
        <a:ext cx="5766383" cy="5350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B9056-04FF-4396-91F7-A4FA46369F82}">
      <dsp:nvSpPr>
        <dsp:cNvPr id="0" name=""/>
        <dsp:cNvSpPr/>
      </dsp:nvSpPr>
      <dsp:spPr>
        <a:xfrm>
          <a:off x="0" y="0"/>
          <a:ext cx="9800294" cy="1124963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+mn-lt"/>
            </a:rPr>
            <a:t>Capital Allocation on a $20M Bulk Piping Package</a:t>
          </a:r>
          <a:endParaRPr lang="en-PH" sz="3200" b="1" kern="1200" dirty="0">
            <a:latin typeface="+mn-lt"/>
          </a:endParaRPr>
        </a:p>
      </dsp:txBody>
      <dsp:txXfrm>
        <a:off x="0" y="0"/>
        <a:ext cx="9800294" cy="1124963"/>
      </dsp:txXfrm>
    </dsp:sp>
    <dsp:sp modelId="{96B67C34-FCFA-4F80-998E-64D63B22BB31}">
      <dsp:nvSpPr>
        <dsp:cNvPr id="0" name=""/>
        <dsp:cNvSpPr/>
      </dsp:nvSpPr>
      <dsp:spPr>
        <a:xfrm>
          <a:off x="4785" y="1124963"/>
          <a:ext cx="3263574" cy="23624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+mn-lt"/>
            </a:rPr>
            <a:t>Conventional 15% Blanket Contingency: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</a:rPr>
            <a:t>$3M allocated as a static hedge.</a:t>
          </a:r>
          <a:endParaRPr lang="en-PH" sz="2400" kern="1200" dirty="0">
            <a:latin typeface="+mn-lt"/>
          </a:endParaRPr>
        </a:p>
      </dsp:txBody>
      <dsp:txXfrm>
        <a:off x="4785" y="1124963"/>
        <a:ext cx="3263574" cy="2362423"/>
      </dsp:txXfrm>
    </dsp:sp>
    <dsp:sp modelId="{36BDB76D-9DA1-4707-8A4E-C81604A597DE}">
      <dsp:nvSpPr>
        <dsp:cNvPr id="0" name=""/>
        <dsp:cNvSpPr/>
      </dsp:nvSpPr>
      <dsp:spPr>
        <a:xfrm>
          <a:off x="3268359" y="1124963"/>
          <a:ext cx="3263574" cy="23624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+mn-lt"/>
            </a:rPr>
            <a:t>ML-Adjusted Allowance (</a:t>
          </a:r>
          <a:r>
            <a:rPr lang="en-US" sz="2400" b="1" kern="1200" dirty="0">
              <a:latin typeface="+mn-lt"/>
              <a:cs typeface="Times New Roman" panose="02020603050405020304" pitchFamily="18" charset="0"/>
            </a:rPr>
            <a:t>±3.5% Uncertainty Band):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Times New Roman" panose="02020603050405020304" pitchFamily="18" charset="0"/>
            </a:rPr>
            <a:t>$0.7M to $1.4M allocated dynamically per line item.</a:t>
          </a:r>
          <a:endParaRPr lang="en-PH" sz="2400" kern="1200" dirty="0">
            <a:latin typeface="+mn-lt"/>
          </a:endParaRPr>
        </a:p>
      </dsp:txBody>
      <dsp:txXfrm>
        <a:off x="3268359" y="1124963"/>
        <a:ext cx="3263574" cy="2362423"/>
      </dsp:txXfrm>
    </dsp:sp>
    <dsp:sp modelId="{E3D274EA-AEF0-4C6B-9DD8-14CB61CB0F9D}">
      <dsp:nvSpPr>
        <dsp:cNvPr id="0" name=""/>
        <dsp:cNvSpPr/>
      </dsp:nvSpPr>
      <dsp:spPr>
        <a:xfrm>
          <a:off x="6531934" y="1124963"/>
          <a:ext cx="3263574" cy="23624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+mn-lt"/>
            </a:rPr>
            <a:t>Net Working Capital Released: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</a:rPr>
            <a:t>Frees up $1.6M to $2.3M in trapped working capital per $20M package.</a:t>
          </a:r>
          <a:endParaRPr lang="en-PH" sz="2400" kern="1200" dirty="0">
            <a:latin typeface="+mn-lt"/>
          </a:endParaRPr>
        </a:p>
      </dsp:txBody>
      <dsp:txXfrm>
        <a:off x="6531934" y="1124963"/>
        <a:ext cx="3263574" cy="2362423"/>
      </dsp:txXfrm>
    </dsp:sp>
    <dsp:sp modelId="{5F96EA69-F42E-45F7-9B77-51956624791F}">
      <dsp:nvSpPr>
        <dsp:cNvPr id="0" name=""/>
        <dsp:cNvSpPr/>
      </dsp:nvSpPr>
      <dsp:spPr>
        <a:xfrm>
          <a:off x="0" y="3487387"/>
          <a:ext cx="9800294" cy="262491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C522F-FCBC-44AE-B8F1-AA4C25EBC4A5}">
      <dsp:nvSpPr>
        <dsp:cNvPr id="0" name=""/>
        <dsp:cNvSpPr/>
      </dsp:nvSpPr>
      <dsp:spPr>
        <a:xfrm>
          <a:off x="199075" y="519353"/>
          <a:ext cx="4746932" cy="1483416"/>
        </a:xfrm>
        <a:prstGeom prst="rect">
          <a:avLst/>
        </a:prstGeom>
        <a:solidFill>
          <a:schemeClr val="accent2">
            <a:alpha val="4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4767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b="0" kern="1200" dirty="0"/>
            <a:t>Evaluates engineering physics (pressures, tie-ins), not human or commercial metadata.</a:t>
          </a:r>
        </a:p>
      </dsp:txBody>
      <dsp:txXfrm>
        <a:off x="199075" y="519353"/>
        <a:ext cx="4746932" cy="1483416"/>
      </dsp:txXfrm>
    </dsp:sp>
    <dsp:sp modelId="{135C4862-4114-4AF9-ABE0-FED5CBB11792}">
      <dsp:nvSpPr>
        <dsp:cNvPr id="0" name=""/>
        <dsp:cNvSpPr/>
      </dsp:nvSpPr>
      <dsp:spPr>
        <a:xfrm>
          <a:off x="1286" y="305082"/>
          <a:ext cx="1038391" cy="155758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D8738AD-14F1-4EBF-A352-B5FDAA8A69FB}">
      <dsp:nvSpPr>
        <dsp:cNvPr id="0" name=""/>
        <dsp:cNvSpPr/>
      </dsp:nvSpPr>
      <dsp:spPr>
        <a:xfrm>
          <a:off x="5348280" y="519353"/>
          <a:ext cx="4746932" cy="1483416"/>
        </a:xfrm>
        <a:prstGeom prst="rect">
          <a:avLst/>
        </a:prstGeom>
        <a:solidFill>
          <a:schemeClr val="accent2">
            <a:alpha val="4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4767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b="0" kern="1200" dirty="0"/>
            <a:t>Validated using Equalized Error Distribution (Group Residual Parity) across subgroups.</a:t>
          </a:r>
        </a:p>
      </dsp:txBody>
      <dsp:txXfrm>
        <a:off x="5348280" y="519353"/>
        <a:ext cx="4746932" cy="1483416"/>
      </dsp:txXfrm>
    </dsp:sp>
    <dsp:sp modelId="{7A4983E2-D20E-4ACB-B449-459C720596C9}">
      <dsp:nvSpPr>
        <dsp:cNvPr id="0" name=""/>
        <dsp:cNvSpPr/>
      </dsp:nvSpPr>
      <dsp:spPr>
        <a:xfrm>
          <a:off x="5150491" y="305082"/>
          <a:ext cx="1038391" cy="155758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F6276ED-D144-46EF-8DFF-8C132CD730EF}">
      <dsp:nvSpPr>
        <dsp:cNvPr id="0" name=""/>
        <dsp:cNvSpPr/>
      </dsp:nvSpPr>
      <dsp:spPr>
        <a:xfrm>
          <a:off x="199075" y="2386810"/>
          <a:ext cx="4746932" cy="1483416"/>
        </a:xfrm>
        <a:prstGeom prst="rect">
          <a:avLst/>
        </a:prstGeom>
        <a:solidFill>
          <a:schemeClr val="accent2">
            <a:alpha val="4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4767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b="0" kern="1200" dirty="0"/>
            <a:t>Zero-centered error distributions guarantee statistical parity.</a:t>
          </a:r>
        </a:p>
      </dsp:txBody>
      <dsp:txXfrm>
        <a:off x="199075" y="2386810"/>
        <a:ext cx="4746932" cy="1483416"/>
      </dsp:txXfrm>
    </dsp:sp>
    <dsp:sp modelId="{6D8BF7C1-76EF-4E50-A9F2-C27DF6D076D2}">
      <dsp:nvSpPr>
        <dsp:cNvPr id="0" name=""/>
        <dsp:cNvSpPr/>
      </dsp:nvSpPr>
      <dsp:spPr>
        <a:xfrm>
          <a:off x="1286" y="2172538"/>
          <a:ext cx="1038391" cy="155758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329F470-5DF3-405E-B7BF-86F8B5E0B61D}">
      <dsp:nvSpPr>
        <dsp:cNvPr id="0" name=""/>
        <dsp:cNvSpPr/>
      </dsp:nvSpPr>
      <dsp:spPr>
        <a:xfrm>
          <a:off x="5348280" y="2386810"/>
          <a:ext cx="4746932" cy="1483416"/>
        </a:xfrm>
        <a:prstGeom prst="rect">
          <a:avLst/>
        </a:prstGeom>
        <a:solidFill>
          <a:schemeClr val="accent2">
            <a:alpha val="4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4767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b="0" kern="1200" dirty="0"/>
            <a:t>The algorithm does not penalize outsourced contractors or regional suppliers, ensuring completely equitable bid allocations.</a:t>
          </a:r>
        </a:p>
      </dsp:txBody>
      <dsp:txXfrm>
        <a:off x="5348280" y="2386810"/>
        <a:ext cx="4746932" cy="1483416"/>
      </dsp:txXfrm>
    </dsp:sp>
    <dsp:sp modelId="{D66827F2-92C6-4D7E-86B7-9EF4B84852FC}">
      <dsp:nvSpPr>
        <dsp:cNvPr id="0" name=""/>
        <dsp:cNvSpPr/>
      </dsp:nvSpPr>
      <dsp:spPr>
        <a:xfrm>
          <a:off x="5150491" y="2172538"/>
          <a:ext cx="1038391" cy="155758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397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31DFB3-42E8-9540-92FB-4AE3F420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1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36261" y="415979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0097E88-8912-8A4F-9D00-BDA132434F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33153" y="4728131"/>
            <a:ext cx="7806047" cy="281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8E2CE6-6A25-40B9-BD31-82C75073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13" y="1656344"/>
            <a:ext cx="7805737" cy="2113466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687ADE-BAA9-634F-96B8-ACF4EE9BD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286000"/>
            <a:ext cx="7810499" cy="290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88BFD865-74BB-5B40-8DA8-7D7B921A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A4B708A-874B-4F75-A235-6908EB43FA8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1D589B3-67A1-4B39-9EEF-2FB7AB10E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808B2-C5CA-FE45-B556-461D856BF7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25CA9F-967F-1545-8E32-09F4DB0F04F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4475" y="1862667"/>
            <a:ext cx="10103049" cy="86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69DD4EBD-237B-7245-A9C2-A37674E2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57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A6D65B-10A2-D743-9FFA-D14B8696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FCB9F5CF-0F1D-284B-B997-AC308FED47B9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951345" y="2286000"/>
            <a:ext cx="9145155" cy="31649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5652B48-7CDD-5645-B29B-54727CA5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0F4C76-2690-7448-8D03-9692C2BB101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C09B5-CD25-4B65-9120-D8EBD79ABC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281DE-BBF4-4AA1-B110-DC418232A0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9333A-6926-414D-9C9D-B62395A38A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  <p15:guide id="6" pos="63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855E5B9-5A63-2D46-8653-3FD1F538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4453"/>
            <a:ext cx="11158847" cy="5824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3FB492B-801F-1741-BD1B-89F9C6BFF0E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28700" y="2423161"/>
            <a:ext cx="9067800" cy="222740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4545B3-0290-D848-BDB5-811BC52B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709460-09E4-854A-889B-491A934DE40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749A19-BE29-4599-ABBE-E7C61FF9E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F30C11-6611-47E2-9CF7-8EE77F4CD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F710E8-4CE9-4D79-8121-DD559D321E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0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  <p15:guide id="6" pos="63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A99595-F780-594B-8C36-E4E5AF5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AFB169-81B7-454B-BE19-407333C86F3B}"/>
              </a:ext>
            </a:extLst>
          </p:cNvPr>
          <p:cNvCxnSpPr>
            <a:cxnSpLocks/>
          </p:cNvCxnSpPr>
          <p:nvPr userDrawn="1"/>
        </p:nvCxnSpPr>
        <p:spPr>
          <a:xfrm>
            <a:off x="2184935" y="1874704"/>
            <a:ext cx="897391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5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06611-233D-45FA-A146-AB9D4F4A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25" y="978781"/>
            <a:ext cx="1589372" cy="1325563"/>
          </a:xfrm>
          <a:prstGeom prst="rect">
            <a:avLst/>
          </a:prstGeom>
        </p:spPr>
        <p:txBody>
          <a:bodyPr/>
          <a:lstStyle>
            <a:lvl1pPr>
              <a:defRPr sz="20000"/>
            </a:lvl1pPr>
          </a:lstStyle>
          <a:p>
            <a:r>
              <a:rPr lang="en-US" dirty="0"/>
              <a:t>“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887C6-2D97-4388-AA65-CEEA6591BF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84EFA-1D77-40D3-B5AC-6652DC26F0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3CA07C-1BC2-4B16-8557-27C373CFC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AD8BFA-14F6-F54A-AB64-29F9F7616A7D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4640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9E731-6B9B-024E-9360-F9F34CC663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4313437"/>
            <a:ext cx="1828800" cy="401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D3D9C96-2F42-E545-BD97-AC8568E2F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7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92AA37C-BA0F-9C4F-B098-EDFE391C4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4600" y="4332486"/>
            <a:ext cx="1828800" cy="401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EAAAC92-F1DA-6847-8D56-1ACCD5E3B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846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4E4153D-E2B3-7D4A-8D92-FF6597B2FB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1512" y="431343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D6B703A-5BF6-744F-A3D3-C65E3F8B3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1512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82A9FE5-981A-B340-B8F8-D2DB83C19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594B2391-B4C8-5542-8285-39BAD874EC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5">
            <a:extLst>
              <a:ext uri="{FF2B5EF4-FFF2-40B4-BE49-F238E27FC236}">
                <a16:creationId xmlns:a16="http://schemas.microsoft.com/office/drawing/2014/main" id="{A2D87BC1-884E-CD4E-BABF-B7AF4DF786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87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DB0763B3-E65F-8A47-AA7C-C9A56C506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846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5">
            <a:extLst>
              <a:ext uri="{FF2B5EF4-FFF2-40B4-BE49-F238E27FC236}">
                <a16:creationId xmlns:a16="http://schemas.microsoft.com/office/drawing/2014/main" id="{1E0F47CF-6DE7-F745-B9D8-55421009AF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405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B4621956-6AB4-E346-8900-9AE2A51ADBC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B64062A-6292-0441-95CB-9A91F49D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611EE2-9C8D-405E-9ABF-8EFD1E1D6B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  <p15:guide id="8" orient="horz" pos="3072">
          <p15:clr>
            <a:srgbClr val="FBAE40"/>
          </p15:clr>
        </p15:guide>
        <p15:guide id="13" pos="6384">
          <p15:clr>
            <a:srgbClr val="FBAE40"/>
          </p15:clr>
        </p15:guide>
        <p15:guide id="14" orient="horz" pos="321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A116A2E3-682D-BD4F-9FC9-4546B0C9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056DE-470B-C64D-99AE-5039A021EC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ADA9C53-0DC4-4D43-B80C-9B0A9E0EBD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8E68047-DF25-AB45-A0F0-F4DFE2351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1DB1B27-14E7-1549-BDAA-6DD31A1B1F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69D66743-22F2-C84F-9FD2-F350766D6C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A38EF55-8739-4A40-A228-67296EA938B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68DC74C-B0F9-2649-BEC3-BBA0BD7376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1422B-E6C5-43B2-9F2B-DECEB38121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6A8F0-5D79-4C8A-9966-308409EB26B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  <p15:guide id="14" pos="148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7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476683E-62F2-7746-A136-3A729C70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52691"/>
            <a:ext cx="307815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EF5BDE3-656A-414E-BE18-702CA738A9D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039099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AADDF0-090D-2C4F-BE2D-160C2C55029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39760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E0EAFBC-DE77-7648-95EC-91DDA52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A16A97-402E-8040-9B48-1B6ED23ABC4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BD319C-69C3-3D46-977C-F80FD35E3C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31731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6FB95E-AD0D-3843-8241-AB907F5915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6252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C85BB87-C622-304F-9F58-8716188AA5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33114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6B0B5-56D6-429D-BC3A-5E501EDADA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DFE9-DB89-4EB9-9FB1-D484EC0C1B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C09F4-4087-4A1E-B8B8-85A748DC901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8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80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D6FA74B-53F8-584F-85D3-47FB14D4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52369-C198-1E48-8F65-F6AC0534DFF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21E4-02B0-3748-9844-933F710058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3048678-0BD6-C448-8690-BD61FC6095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2286000"/>
            <a:ext cx="4876800" cy="2746375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134C-ADB9-4E1C-97DD-12E5DE2C77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0C24D-14BB-46C9-A4C2-DB15E4FB9B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3D085-5F13-41E2-9C46-08E3E2846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8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8B57D363-927D-CE43-AD8A-2F5E6CC59E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4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C4B4F87-0B31-4EDA-8270-4233B0D8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98180" y="6294120"/>
            <a:ext cx="1462788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3500" y="6292334"/>
            <a:ext cx="41275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3" r:id="rId3"/>
    <p:sldLayoutId id="2147483671" r:id="rId4"/>
    <p:sldLayoutId id="2147483678" r:id="rId5"/>
    <p:sldLayoutId id="2147483676" r:id="rId6"/>
    <p:sldLayoutId id="2147483677" r:id="rId7"/>
    <p:sldLayoutId id="2147483660" r:id="rId8"/>
    <p:sldLayoutId id="2147483675" r:id="rId9"/>
    <p:sldLayoutId id="2147483679" r:id="rId10"/>
    <p:sldLayoutId id="2147483680" r:id="rId11"/>
    <p:sldLayoutId id="2147483681" r:id="rId12"/>
    <p:sldLayoutId id="214748368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>
          <p15:clr>
            <a:srgbClr val="F26B43"/>
          </p15:clr>
        </p15:guide>
        <p15:guide id="18" orient="horz" pos="3672">
          <p15:clr>
            <a:srgbClr val="F26B43"/>
          </p15:clr>
        </p15:guide>
        <p15:guide id="19" pos="3984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ru/view-image.php?image=97489&amp;picture=-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microsoft.com/office/2007/relationships/hdphoto" Target="../media/hdphoto1.wdp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biz.libretexts.org/Courses/Folsom_Lake_College/ACCT_311:_Managerial_Accounting_(Black)" TargetMode="External"/><Relationship Id="rId3" Type="http://schemas.openxmlformats.org/officeDocument/2006/relationships/diagramLayout" Target="../diagrams/layout4.xml"/><Relationship Id="rId7" Type="http://schemas.openxmlformats.org/officeDocument/2006/relationships/image" Target="../media/image4.page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vector-images/blue-crystals-vector-clipart.png.php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ppopx.com/en/architectural-industrial-design-urban-construction-architecture-industry-152137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C99CF7C-AFAB-48F1-8FC3-CCCE9898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13" y="117446"/>
            <a:ext cx="10055210" cy="3514987"/>
          </a:xfrm>
        </p:spPr>
        <p:txBody>
          <a:bodyPr/>
          <a:lstStyle/>
          <a:p>
            <a:r>
              <a:rPr lang="en-US" sz="4800" cap="all" dirty="0"/>
              <a:t>Predictive modeling of Material Take-off Overrun Risks in Brownfield EPC Projects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CC17-4660-124A-8996-54F15FD169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60477" y="3724712"/>
            <a:ext cx="9116036" cy="2158564"/>
          </a:xfrm>
        </p:spPr>
        <p:txBody>
          <a:bodyPr/>
          <a:lstStyle/>
          <a:p>
            <a:r>
              <a:rPr lang="en-US" b="1" dirty="0"/>
              <a:t>A Dual-Task Machine Learning Approach to Quantifying MTO Growth for Proactive Cost Control</a:t>
            </a:r>
            <a:endParaRPr lang="en-PH" b="1" dirty="0"/>
          </a:p>
          <a:p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Engr. Julie Anne-Mae V. Villanueva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Postgraduate Diploma in Artificial Intelligence and Machine Learning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Asian Institute of Management (AIM)</a:t>
            </a:r>
          </a:p>
        </p:txBody>
      </p:sp>
    </p:spTree>
    <p:extLst>
      <p:ext uri="{BB962C8B-B14F-4D97-AF65-F5344CB8AC3E}">
        <p14:creationId xmlns:p14="http://schemas.microsoft.com/office/powerpoint/2010/main" val="260547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A12C-1EFA-7A76-D5B6-FB1F1090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</p:spPr>
        <p:txBody>
          <a:bodyPr/>
          <a:lstStyle/>
          <a:p>
            <a:r>
              <a:rPr lang="en-US" sz="4000" dirty="0"/>
              <a:t>The Brownfield Engineering Challenge</a:t>
            </a:r>
            <a:endParaRPr lang="en-PH" sz="4000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439543F-B746-C4DB-A04B-03B19D00A320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BB5055-8139-2096-1E31-EFAD4A040808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7969541" y="6294120"/>
            <a:ext cx="1791427" cy="22160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AIM Capstone Project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B28FC64-3271-4666-17B2-4B5E883FCBF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D254D9C6-8796-5390-7CF6-BC93319045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6196530"/>
              </p:ext>
            </p:extLst>
          </p:nvPr>
        </p:nvGraphicFramePr>
        <p:xfrm>
          <a:off x="1028700" y="2004969"/>
          <a:ext cx="10096500" cy="4150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129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324FA0-0DB4-3942-B6B8-27D09C4FF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The Flaw in Flat Contingencies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09607A-1079-0440-B136-F827E83999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1" y="2256639"/>
            <a:ext cx="9642095" cy="2933891"/>
          </a:xfrm>
        </p:spPr>
        <p:txBody>
          <a:bodyPr/>
          <a:lstStyle/>
          <a:p>
            <a:pPr lvl="0"/>
            <a:r>
              <a:rPr lang="en-PH" sz="2000" dirty="0"/>
              <a:t>Project controls teams typically apply a static, across-the-board </a:t>
            </a:r>
            <a:r>
              <a:rPr lang="en-PH" sz="2000" b="1" dirty="0"/>
              <a:t>10% to 15%</a:t>
            </a:r>
            <a:r>
              <a:rPr lang="en-PH" sz="2000" dirty="0"/>
              <a:t> material buffer to hedge against volume growth.</a:t>
            </a:r>
          </a:p>
          <a:p>
            <a:pPr lvl="0"/>
            <a:r>
              <a:rPr lang="en-PH" sz="2000" dirty="0"/>
              <a:t>This treats benign, straight-run utility pipes identically to high-pressure, severe-temperature, or toxic exotic alloy circuits.</a:t>
            </a:r>
          </a:p>
          <a:p>
            <a:pPr lvl="0"/>
            <a:r>
              <a:rPr lang="en-PH" sz="2000" b="1" dirty="0"/>
              <a:t>The Consequences of Getting it Wrong:</a:t>
            </a:r>
            <a:endParaRPr lang="en-PH" sz="2000" dirty="0"/>
          </a:p>
          <a:p>
            <a:pPr lvl="0"/>
            <a:r>
              <a:rPr lang="en-PH" sz="2000" b="1" dirty="0"/>
              <a:t>Over-estimating: </a:t>
            </a:r>
            <a:r>
              <a:rPr lang="en-PH" sz="2000" dirty="0"/>
              <a:t>Traps millions in idle working capital, bloating EPC bid prices and making proposals uncompetitive.</a:t>
            </a:r>
          </a:p>
          <a:p>
            <a:pPr lvl="0"/>
            <a:r>
              <a:rPr lang="en-PH" sz="2000" b="1" dirty="0"/>
              <a:t>Under-estimating:</a:t>
            </a:r>
            <a:r>
              <a:rPr lang="en-PH" sz="2000" dirty="0"/>
              <a:t> Causes catastrophic field shortages, triggering high-premium air freight and expensive craft standby delays.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757B9-F955-4193-88D9-F4EA85D547D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830818" y="6292334"/>
            <a:ext cx="1522982" cy="182880"/>
          </a:xfrm>
        </p:spPr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3FA8-4599-46DB-9C0B-749220AC23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902429" y="6294120"/>
            <a:ext cx="1858539" cy="181094"/>
          </a:xfrm>
        </p:spPr>
        <p:txBody>
          <a:bodyPr/>
          <a:lstStyle/>
          <a:p>
            <a:r>
              <a:rPr lang="en-US" dirty="0"/>
              <a:t>AIM Capstone Project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1C65C-0714-4BCD-8550-1DD2C44FAD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7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66EE-4FBD-534E-AAED-6C54465E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5067300" cy="645284"/>
          </a:xfrm>
        </p:spPr>
        <p:txBody>
          <a:bodyPr/>
          <a:lstStyle/>
          <a:p>
            <a:r>
              <a:rPr lang="en-US" sz="2400" dirty="0"/>
              <a:t>Project Objectives: Transforming Data into Risk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37E2-1EBF-6244-8E0A-274D170CC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105637"/>
            <a:ext cx="4876800" cy="3749062"/>
          </a:xfrm>
        </p:spPr>
        <p:txBody>
          <a:bodyPr/>
          <a:lstStyle/>
          <a:p>
            <a:r>
              <a:rPr lang="en-PH" dirty="0"/>
              <a:t>Replacing subjective markups with an empirical, data-driven machine learning pipeline. </a:t>
            </a:r>
          </a:p>
          <a:p>
            <a:r>
              <a:rPr lang="en-US" b="1" dirty="0"/>
              <a:t>Flag High-Risk Overruns (Early Warning):</a:t>
            </a:r>
            <a:r>
              <a:rPr lang="en-US" dirty="0"/>
              <a:t> </a:t>
            </a:r>
            <a:r>
              <a:rPr lang="en-PH" dirty="0"/>
              <a:t>Identify specific process subsystems that have a high probability of exceeding a 15% material growth before the design is frozen.</a:t>
            </a:r>
          </a:p>
          <a:p>
            <a:r>
              <a:rPr lang="en-US" b="1" dirty="0"/>
              <a:t>Quantify Exact Material Growth (Smart Shopping List): </a:t>
            </a:r>
            <a:r>
              <a:rPr lang="en-PH" dirty="0"/>
              <a:t>Predict the exact percentage volume overrun based on process severity and spatial constraints.</a:t>
            </a:r>
            <a:endParaRPr lang="en-US" dirty="0"/>
          </a:p>
          <a:p>
            <a:r>
              <a:rPr lang="en-US" b="1" dirty="0"/>
              <a:t>Optimize Contingency Allocation: </a:t>
            </a:r>
            <a:r>
              <a:rPr lang="en-PH" dirty="0"/>
              <a:t>Empower project managers to justify dynamic, risk-adjusted material allowances to protect both the schedule and the bottom line.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0FDF0A1-337F-4901-B663-86681B2274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/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5B39E-73CB-4B96-BBFA-E350F71F2E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830818" y="6292334"/>
            <a:ext cx="1522982" cy="182880"/>
          </a:xfrm>
        </p:spPr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C25C0-C28C-43A9-A830-FCBFC8BAA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927596" y="6294120"/>
            <a:ext cx="1833372" cy="18109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AIM Capstone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E5F9E-39DA-49B7-8AA0-FF8E2B15DE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3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4" descr="image of ladders against a wall.">
            <a:extLst>
              <a:ext uri="{FF2B5EF4-FFF2-40B4-BE49-F238E27FC236}">
                <a16:creationId xmlns:a16="http://schemas.microsoft.com/office/drawing/2014/main" id="{00F47B26-6646-4859-AAEF-1DC4DE3FD88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F253E442-C966-BF47-A022-DDAA2A6F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130147" cy="645284"/>
          </a:xfrm>
        </p:spPr>
        <p:txBody>
          <a:bodyPr/>
          <a:lstStyle/>
          <a:p>
            <a:r>
              <a:rPr lang="en-US" sz="4000" dirty="0"/>
              <a:t>A Dual-Task Machine Learning Framework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D7BE2C-4E52-6E40-83F8-6BB9BB024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36261" y="1876617"/>
            <a:ext cx="10122586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10424A-BC21-1E03-BED3-B3AF95165911}"/>
              </a:ext>
            </a:extLst>
          </p:cNvPr>
          <p:cNvSpPr txBox="1"/>
          <p:nvPr/>
        </p:nvSpPr>
        <p:spPr>
          <a:xfrm>
            <a:off x="1036261" y="2181138"/>
            <a:ext cx="10115024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n-PH" dirty="0"/>
              <a:t>Trained on 8,500 domain-synthesized brownfield subsystems mimicking real-world constraints.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F6D4928-AA4C-B27E-27A3-F5B2C66486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82209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5E82C854-842C-7065-1BD5-75F9A75F23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9046137"/>
              </p:ext>
            </p:extLst>
          </p:nvPr>
        </p:nvGraphicFramePr>
        <p:xfrm>
          <a:off x="773650" y="2643420"/>
          <a:ext cx="10377635" cy="414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07217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4391A8-86CF-7246-9C31-CC6670044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9893766" cy="645284"/>
          </a:xfrm>
        </p:spPr>
        <p:txBody>
          <a:bodyPr/>
          <a:lstStyle/>
          <a:p>
            <a:r>
              <a:rPr lang="en-US" sz="3200" dirty="0"/>
              <a:t>Business KPI 1: Proactive Cost &amp; Schedule Control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75E85-59EF-445E-8928-63AC7377D2C2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30818" y="6292334"/>
            <a:ext cx="1522982" cy="182880"/>
          </a:xfrm>
        </p:spPr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F5772-47E8-412F-A4E9-2F4CECCBF5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19207" y="6294120"/>
            <a:ext cx="1841761" cy="18109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AIM Capstone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2835A-A332-4647-B267-D78B14BFA4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9E48A78-3572-AC8E-E4F7-A7B04AD669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3199276"/>
              </p:ext>
            </p:extLst>
          </p:nvPr>
        </p:nvGraphicFramePr>
        <p:xfrm>
          <a:off x="5156083" y="1904301"/>
          <a:ext cx="5766383" cy="3791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2660AF5-6DFB-1116-B823-9551D849D2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28700" y="2070753"/>
            <a:ext cx="3912416" cy="351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39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9BB335-2462-3D47-A2A8-85BA2D85C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Business KPI 2: Optimizing Working Capital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7C1C1C-2E16-451A-BC65-4BE897152D1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830818" y="6292334"/>
            <a:ext cx="1522982" cy="182880"/>
          </a:xfrm>
        </p:spPr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A22DE-90F3-4C5C-921E-00BF1BD68B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894040" y="6294120"/>
            <a:ext cx="1866928" cy="18109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AIM Capstone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A4ADA-7998-4A9D-939E-3A1B16A0F2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8853EDA-9B0B-43B7-D2DB-78411A77F8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9346069"/>
              </p:ext>
            </p:extLst>
          </p:nvPr>
        </p:nvGraphicFramePr>
        <p:xfrm>
          <a:off x="1029893" y="2013358"/>
          <a:ext cx="9800294" cy="3749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2761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0A330894-D0C4-D546-8FD0-57BDEB2A0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</p:spPr>
        <p:txBody>
          <a:bodyPr/>
          <a:lstStyle/>
          <a:p>
            <a:r>
              <a:rPr lang="en-US" sz="4000" dirty="0"/>
              <a:t>The “Glass Box” Approach for Engineers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DA105-072F-49AA-B6E5-F2D3975D489E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9830818" y="6292334"/>
            <a:ext cx="1522982" cy="182880"/>
          </a:xfrm>
        </p:spPr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758E9-C1B5-4D69-B912-35A2A1CB68F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7877262" y="6294120"/>
            <a:ext cx="1883706" cy="18109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AIM Capstone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6E789-A9CA-435C-99DB-6EAF638305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5C367B-D34B-21DD-8AA7-B601F75552C3}"/>
              </a:ext>
            </a:extLst>
          </p:cNvPr>
          <p:cNvSpPr txBox="1"/>
          <p:nvPr/>
        </p:nvSpPr>
        <p:spPr>
          <a:xfrm>
            <a:off x="1028700" y="2172749"/>
            <a:ext cx="57816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Model logic is fully transparent to technical audit boards using Local SHAP Explanations.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chemeClr val="bg1"/>
                </a:solidFill>
              </a:rPr>
              <a:t>The model relies on physical engineering laws, not black-box chance.</a:t>
            </a:r>
          </a:p>
          <a:p>
            <a:pPr lvl="0"/>
            <a:endParaRPr lang="en-PH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sz="1600" b="1" dirty="0">
                <a:solidFill>
                  <a:schemeClr val="bg1"/>
                </a:solidFill>
              </a:rPr>
              <a:t>Top Drivers of Overruns:</a:t>
            </a:r>
            <a:endParaRPr lang="en-PH" sz="1600" dirty="0">
              <a:solidFill>
                <a:schemeClr val="bg1"/>
              </a:solidFill>
            </a:endParaRPr>
          </a:p>
          <a:p>
            <a:pPr marL="800100" lvl="1" indent="-342900">
              <a:buAutoNum type="arabicPeriod"/>
            </a:pPr>
            <a:r>
              <a:rPr lang="en-PH" sz="1600" dirty="0">
                <a:solidFill>
                  <a:schemeClr val="bg1"/>
                </a:solidFill>
              </a:rPr>
              <a:t>High Brownfield Complexity Penalty (dense tie-ins)</a:t>
            </a:r>
          </a:p>
          <a:p>
            <a:pPr marL="800100" lvl="1" indent="-342900">
              <a:buAutoNum type="arabicPeriod"/>
            </a:pPr>
            <a:r>
              <a:rPr lang="en-PH" sz="1600" dirty="0">
                <a:solidFill>
                  <a:schemeClr val="bg1"/>
                </a:solidFill>
              </a:rPr>
              <a:t>Lack of 3D Laser Scan Coverage</a:t>
            </a:r>
          </a:p>
          <a:p>
            <a:pPr marL="800100" lvl="1" indent="-342900">
              <a:buAutoNum type="arabicPeriod"/>
            </a:pPr>
            <a:r>
              <a:rPr lang="en-PH" sz="1600" dirty="0">
                <a:solidFill>
                  <a:schemeClr val="bg1"/>
                </a:solidFill>
              </a:rPr>
              <a:t>Low FEED Gate Maturity (30% vs. 90%)</a:t>
            </a:r>
          </a:p>
          <a:p>
            <a:pPr lvl="0"/>
            <a:endParaRPr lang="en-PH" sz="1600" b="1" dirty="0">
              <a:solidFill>
                <a:schemeClr val="bg1"/>
              </a:solidFill>
            </a:endParaRPr>
          </a:p>
          <a:p>
            <a:pPr lvl="0"/>
            <a:r>
              <a:rPr lang="en-PH" sz="1600" b="1" dirty="0">
                <a:solidFill>
                  <a:schemeClr val="bg1"/>
                </a:solidFill>
              </a:rPr>
              <a:t>The Verdict:</a:t>
            </a:r>
            <a:r>
              <a:rPr lang="en-PH" sz="1600" dirty="0">
                <a:solidFill>
                  <a:schemeClr val="bg1"/>
                </a:solidFill>
              </a:rPr>
              <a:t> The model mathematically confirms that spatial uncertainty and the early design stage are the largest contributors to bulk material growth.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PH" sz="1600" b="1" dirty="0">
              <a:solidFill>
                <a:schemeClr val="bg1"/>
              </a:solidFill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A548E1F-15D2-A973-1918-028F9A4AD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0420"/>
          <a:stretch>
            <a:fillRect/>
          </a:stretch>
        </p:blipFill>
        <p:spPr>
          <a:xfrm>
            <a:off x="6810375" y="2172747"/>
            <a:ext cx="4314825" cy="391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91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3188-3BDF-6AAD-D297-7B520F8B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D8503D7F-74FA-B6F6-1CFE-B52C0044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187381" cy="645284"/>
          </a:xfrm>
        </p:spPr>
        <p:txBody>
          <a:bodyPr/>
          <a:lstStyle/>
          <a:p>
            <a:r>
              <a:rPr lang="en-US" sz="4000" dirty="0"/>
              <a:t>Local Explainability (Line PL-00005 Audit)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CBF81-DB54-7A68-71E9-2D7CE8D6711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74413-87AF-791D-2E0B-AA386148109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77930" y="6294120"/>
            <a:ext cx="1783038" cy="18109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AIM Capstone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60C2F-7DE3-8964-3250-76A082E38B4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FBDA3A-9E2C-010C-F318-C93039E3FFE0}"/>
              </a:ext>
            </a:extLst>
          </p:cNvPr>
          <p:cNvSpPr txBox="1"/>
          <p:nvPr/>
        </p:nvSpPr>
        <p:spPr>
          <a:xfrm>
            <a:off x="5483224" y="2196391"/>
            <a:ext cx="568007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PH" sz="1600" b="1" dirty="0">
                <a:solidFill>
                  <a:schemeClr val="bg1"/>
                </a:solidFill>
              </a:rPr>
              <a:t>Historical Baseline Material Growth:</a:t>
            </a:r>
            <a:r>
              <a:rPr lang="en-PH" sz="1600" dirty="0">
                <a:solidFill>
                  <a:schemeClr val="bg1"/>
                </a:solidFill>
              </a:rPr>
              <a:t> 19.37%</a:t>
            </a:r>
          </a:p>
          <a:p>
            <a:pPr lvl="0"/>
            <a:endParaRPr lang="en-PH" sz="1600" b="1" dirty="0">
              <a:solidFill>
                <a:schemeClr val="bg1"/>
              </a:solidFill>
            </a:endParaRPr>
          </a:p>
          <a:p>
            <a:pPr lvl="0"/>
            <a:r>
              <a:rPr lang="en-PH" sz="1600" b="1" dirty="0">
                <a:solidFill>
                  <a:schemeClr val="bg1"/>
                </a:solidFill>
              </a:rPr>
              <a:t>Risk Escalators Identified by ML: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chemeClr val="bg1"/>
                </a:solidFill>
              </a:rPr>
              <a:t>30% FEED maturity (+5.16% penalty)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chemeClr val="bg1"/>
                </a:solidFill>
              </a:rPr>
              <a:t>Toxic fluid service (+3.23% penalty)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chemeClr val="bg1"/>
                </a:solidFill>
              </a:rPr>
              <a:t>Extreme design pressure of 240.9 </a:t>
            </a:r>
            <a:r>
              <a:rPr lang="en-PH" sz="1600" dirty="0" err="1">
                <a:solidFill>
                  <a:schemeClr val="bg1"/>
                </a:solidFill>
              </a:rPr>
              <a:t>barg</a:t>
            </a:r>
            <a:r>
              <a:rPr lang="en-PH" sz="1600" dirty="0">
                <a:solidFill>
                  <a:schemeClr val="bg1"/>
                </a:solidFill>
              </a:rPr>
              <a:t> (+1.86% penalty)</a:t>
            </a:r>
          </a:p>
          <a:p>
            <a:pPr lvl="0"/>
            <a:endParaRPr lang="en-PH" sz="1600" b="1" dirty="0">
              <a:solidFill>
                <a:schemeClr val="bg1"/>
              </a:solidFill>
            </a:endParaRPr>
          </a:p>
          <a:p>
            <a:pPr lvl="0"/>
            <a:r>
              <a:rPr lang="en-PH" sz="1600" b="1" dirty="0">
                <a:solidFill>
                  <a:schemeClr val="bg1"/>
                </a:solidFill>
              </a:rPr>
              <a:t>Risk Mitigators Identified by ML: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chemeClr val="bg1"/>
                </a:solidFill>
              </a:rPr>
              <a:t>97.3% 3D laser scan coverage (-1.67% credit)</a:t>
            </a:r>
          </a:p>
          <a:p>
            <a:pPr lvl="0"/>
            <a:endParaRPr lang="en-PH" sz="1600" b="1" dirty="0">
              <a:solidFill>
                <a:schemeClr val="bg1"/>
              </a:solidFill>
            </a:endParaRPr>
          </a:p>
          <a:p>
            <a:pPr lvl="0"/>
            <a:r>
              <a:rPr lang="en-PH" b="1" dirty="0">
                <a:solidFill>
                  <a:schemeClr val="bg1"/>
                </a:solidFill>
              </a:rPr>
              <a:t>Final ML Verdict:</a:t>
            </a:r>
            <a:r>
              <a:rPr lang="en-PH" dirty="0">
                <a:solidFill>
                  <a:schemeClr val="bg1"/>
                </a:solidFill>
              </a:rPr>
              <a:t> Targeted </a:t>
            </a:r>
            <a:r>
              <a:rPr lang="en-PH" b="1" dirty="0">
                <a:solidFill>
                  <a:schemeClr val="bg1"/>
                </a:solidFill>
              </a:rPr>
              <a:t>27.73%</a:t>
            </a:r>
            <a:r>
              <a:rPr lang="en-PH" dirty="0">
                <a:solidFill>
                  <a:schemeClr val="bg1"/>
                </a:solidFill>
              </a:rPr>
              <a:t> buffer, precisely matching the actual historical closeout need of 27.54%. A traditional 15% blanket markup would have left this critical line severely under-budgeted.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0F18A43-A1B8-13FF-E7FB-A7B1BA4CA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8699" y="2956768"/>
            <a:ext cx="4314825" cy="2857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286409-DBD7-C532-76D5-2E29E72F7A8C}"/>
              </a:ext>
            </a:extLst>
          </p:cNvPr>
          <p:cNvSpPr txBox="1"/>
          <p:nvPr/>
        </p:nvSpPr>
        <p:spPr>
          <a:xfrm>
            <a:off x="1028699" y="2000250"/>
            <a:ext cx="4314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000" i="1" dirty="0">
                <a:solidFill>
                  <a:schemeClr val="bg1"/>
                </a:solidFill>
              </a:rPr>
              <a:t>Tracing every dollar of contingency back to a physical constraint.</a:t>
            </a:r>
          </a:p>
        </p:txBody>
      </p:sp>
    </p:spTree>
    <p:extLst>
      <p:ext uri="{BB962C8B-B14F-4D97-AF65-F5344CB8AC3E}">
        <p14:creationId xmlns:p14="http://schemas.microsoft.com/office/powerpoint/2010/main" val="12947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1B00-2D81-3048-8AFF-1F5A3E8AA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</p:spPr>
        <p:txBody>
          <a:bodyPr/>
          <a:lstStyle/>
          <a:p>
            <a:r>
              <a:rPr lang="en-US" sz="3600" dirty="0"/>
              <a:t>Algorithmic Fairness &amp; Unbiased Estimation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86B18-65CD-4C79-A97B-CFF6B4C5FEFB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9830818" y="6292334"/>
            <a:ext cx="1522982" cy="182880"/>
          </a:xfrm>
        </p:spPr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3D890-4D0C-440B-A0D2-FE2E3B14F6BF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7860484" y="6292334"/>
            <a:ext cx="1900484" cy="18466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AIM Capstone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9A274E-39AC-4802-84BB-E5ABF0747E7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D1D17DF2-1390-EA1C-9B54-9A838115B1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078972"/>
              </p:ext>
            </p:extLst>
          </p:nvPr>
        </p:nvGraphicFramePr>
        <p:xfrm>
          <a:off x="1028699" y="2030136"/>
          <a:ext cx="10096499" cy="4175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182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7F85-B014-E54D-AC82-A789515E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6" descr="White Darts">
            <a:extLst>
              <a:ext uri="{FF2B5EF4-FFF2-40B4-BE49-F238E27FC236}">
                <a16:creationId xmlns:a16="http://schemas.microsoft.com/office/drawing/2014/main" id="{8A7A839A-FCAC-2F45-B138-DD0DC7C61F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CE19-F795-8240-B223-A5CA7C9DE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3"/>
            <a:ext cx="4876800" cy="2332729"/>
          </a:xfrm>
        </p:spPr>
        <p:txBody>
          <a:bodyPr/>
          <a:lstStyle/>
          <a:p>
            <a:r>
              <a:rPr lang="en-US" dirty="0">
                <a:cs typeface="Biome Light" panose="020B0303030204020804" pitchFamily="34" charset="0"/>
              </a:rPr>
              <a:t>Special thanks to the AIM faculty, program leader, and my cohort for their guidance throughout this program journey.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8D6534-C18A-6F43-BFAE-88E2F83FD9B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b="1" dirty="0"/>
              <a:t>Julie Anne-Mae V. Villanueva</a:t>
            </a:r>
            <a:r>
              <a:rPr lang="en-US" dirty="0"/>
              <a:t>   </a:t>
            </a:r>
          </a:p>
          <a:p>
            <a:pPr>
              <a:spcBef>
                <a:spcPts val="600"/>
              </a:spcBef>
            </a:pPr>
            <a:r>
              <a:rPr lang="en-US" dirty="0"/>
              <a:t>jamvanta06@gmail.com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37C36-233D-4261-A151-481DEB983F8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9830818" y="6292334"/>
            <a:ext cx="1522982" cy="182880"/>
          </a:xfrm>
        </p:spPr>
        <p:txBody>
          <a:bodyPr/>
          <a:lstStyle/>
          <a:p>
            <a:r>
              <a:rPr lang="en-US" dirty="0"/>
              <a:t>October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7CE90-6DC0-4BAD-AFD2-6566038ECD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810150" y="6294120"/>
            <a:ext cx="1950818" cy="18109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AIM Capstone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0CAF6B-5914-4E2F-90A1-4B2D92D5AD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56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A_Win32_MW_JS_SL_v2.potx" id="{F3EA0D10-81D8-413D-A4CA-F5D1D5CC8037}" vid="{9BA86A48-81B4-441C-9F07-EEAF91A8FC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4273A0-A4DF-47AA-BF1F-8758123399CE}">
  <ds:schemaRefs>
    <ds:schemaRef ds:uri="http://schemas.microsoft.com/office/2006/metadata/properties"/>
    <ds:schemaRef ds:uri="http://www.w3.org/XML/1998/namespace"/>
    <ds:schemaRef ds:uri="http://purl.org/dc/dcmitype/"/>
    <ds:schemaRef ds:uri="16c05727-aa75-4e4a-9b5f-8a80a1165891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82F651C-E5DA-470F-A6A6-D70E9A5EBF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975AF8-B1C6-436B-A274-2C3ADC779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235</TotalTime>
  <Words>886</Words>
  <Application>Microsoft Office PowerPoint</Application>
  <PresentationFormat>Widescreen</PresentationFormat>
  <Paragraphs>114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Nova</vt:lpstr>
      <vt:lpstr>Biome Light</vt:lpstr>
      <vt:lpstr>Calibri</vt:lpstr>
      <vt:lpstr>Wingdings</vt:lpstr>
      <vt:lpstr>Theme1</vt:lpstr>
      <vt:lpstr>Predictive modeling of Material Take-off Overrun Risks in Brownfield EPC Projects</vt:lpstr>
      <vt:lpstr>The Brownfield Engineering Challenge</vt:lpstr>
      <vt:lpstr>The Flaw in Flat Contingencies</vt:lpstr>
      <vt:lpstr>Project Objectives: Transforming Data into Risk Intelligence</vt:lpstr>
      <vt:lpstr>A Dual-Task Machine Learning Framework</vt:lpstr>
      <vt:lpstr>Business KPI 1: Proactive Cost &amp; Schedule Control</vt:lpstr>
      <vt:lpstr>Business KPI 2: Optimizing Working Capital</vt:lpstr>
      <vt:lpstr>The “Glass Box” Approach for Engineers</vt:lpstr>
      <vt:lpstr>Local Explainability (Line PL-00005 Audit)</vt:lpstr>
      <vt:lpstr>Algorithmic Fairness &amp; Unbiased Estimation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 Villanueva</dc:creator>
  <cp:lastModifiedBy>Jam Villanueva</cp:lastModifiedBy>
  <cp:revision>20</cp:revision>
  <dcterms:created xsi:type="dcterms:W3CDTF">2026-10-04T16:27:52Z</dcterms:created>
  <dcterms:modified xsi:type="dcterms:W3CDTF">2026-10-04T20:23:33Z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